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3" r:id="rId4"/>
    <p:sldId id="265" r:id="rId5"/>
    <p:sldId id="266" r:id="rId6"/>
    <p:sldId id="267" r:id="rId7"/>
    <p:sldId id="259" r:id="rId8"/>
    <p:sldId id="268" r:id="rId9"/>
    <p:sldId id="269" r:id="rId10"/>
    <p:sldId id="260" r:id="rId11"/>
    <p:sldId id="261" r:id="rId12"/>
    <p:sldId id="262" r:id="rId13"/>
  </p:sldIdLst>
  <p:sldSz cx="12192000" cy="6858000"/>
  <p:notesSz cx="6858000" cy="9144000"/>
  <p:embeddedFontLst>
    <p:embeddedFont>
      <p:font typeface="Noto Sans KR" panose="020B0200000000000000" pitchFamily="50" charset="-127"/>
      <p:regular r:id="rId15"/>
      <p:bold r:id="rId16"/>
    </p:embeddedFont>
    <p:embeddedFont>
      <p:font typeface="Noto Sans" panose="020B0600000101010101" charset="0"/>
      <p:bold r:id="rId17"/>
      <p:boldItalic r:id="rId18"/>
    </p:embeddedFont>
    <p:embeddedFont>
      <p:font typeface="Noto Sans Medium" panose="020B0600000101010101" charset="0"/>
      <p:regular r:id="rId19"/>
      <p:bold r:id="rId20"/>
      <p:italic r:id="rId21"/>
      <p:boldItalic r:id="rId22"/>
    </p:embeddedFont>
    <p:embeddedFont>
      <p:font typeface="Malgun Gothic" panose="020B0503020000020004" pitchFamily="50" charset="-127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hMeyAAd+EgHVXNGAC5iVUwSul+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Relationship Id="rId23" Type="http://schemas.openxmlformats.org/officeDocument/2006/relationships/font" Target="fonts/font9.fntdata"/><Relationship Id="rId24" Type="http://schemas.openxmlformats.org/officeDocument/2006/relationships/font" Target="fonts/font10.fntdata"/><Relationship Id="rId25" Type="http://customschemas.google.com/relationships/presentationmetadata" Target="meta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7544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7588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5387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6280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77164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7234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1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804" y="6350105"/>
            <a:ext cx="1379496" cy="329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및 내용">
  <p:cSld name="1_제목 및 내용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0"/>
          <p:cNvSpPr txBox="1">
            <a:spLocks noGrp="1"/>
          </p:cNvSpPr>
          <p:nvPr>
            <p:ph type="title"/>
          </p:nvPr>
        </p:nvSpPr>
        <p:spPr>
          <a:xfrm>
            <a:off x="322811" y="207186"/>
            <a:ext cx="10515600" cy="40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Medium"/>
              <a:buNone/>
              <a:defRPr sz="240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18" name="Google Shape;18;p10"/>
          <p:cNvCxnSpPr/>
          <p:nvPr/>
        </p:nvCxnSpPr>
        <p:spPr>
          <a:xfrm rot="10800000" flipH="1">
            <a:off x="414804" y="655614"/>
            <a:ext cx="11772000" cy="8629"/>
          </a:xfrm>
          <a:prstGeom prst="straightConnector1">
            <a:avLst/>
          </a:prstGeom>
          <a:noFill/>
          <a:ln w="28575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" name="Google Shape;19;p10"/>
          <p:cNvCxnSpPr/>
          <p:nvPr/>
        </p:nvCxnSpPr>
        <p:spPr>
          <a:xfrm rot="10800000" flipH="1">
            <a:off x="414804" y="6262342"/>
            <a:ext cx="11772000" cy="8629"/>
          </a:xfrm>
          <a:prstGeom prst="straightConnector1">
            <a:avLst/>
          </a:prstGeom>
          <a:noFill/>
          <a:ln w="1905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0" name="Google Shape;2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7552" y="6350105"/>
            <a:ext cx="1379496" cy="329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제목 및 내용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25" name="Google Shape;25;p11"/>
          <p:cNvCxnSpPr/>
          <p:nvPr/>
        </p:nvCxnSpPr>
        <p:spPr>
          <a:xfrm rot="10800000" flipH="1">
            <a:off x="414804" y="655614"/>
            <a:ext cx="11772000" cy="8629"/>
          </a:xfrm>
          <a:prstGeom prst="straightConnector1">
            <a:avLst/>
          </a:prstGeom>
          <a:noFill/>
          <a:ln w="28575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" name="Google Shape;26;p11"/>
          <p:cNvSpPr txBox="1"/>
          <p:nvPr/>
        </p:nvSpPr>
        <p:spPr>
          <a:xfrm>
            <a:off x="322811" y="207186"/>
            <a:ext cx="10515600" cy="40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Medium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마스터 제목 스타일 편집</a:t>
            </a:r>
            <a:endParaRPr/>
          </a:p>
        </p:txBody>
      </p:sp>
      <p:cxnSp>
        <p:nvCxnSpPr>
          <p:cNvPr id="27" name="Google Shape;27;p11"/>
          <p:cNvCxnSpPr/>
          <p:nvPr/>
        </p:nvCxnSpPr>
        <p:spPr>
          <a:xfrm rot="10800000" flipH="1">
            <a:off x="414804" y="6262342"/>
            <a:ext cx="11772000" cy="8629"/>
          </a:xfrm>
          <a:prstGeom prst="straightConnector1">
            <a:avLst/>
          </a:prstGeom>
          <a:noFill/>
          <a:ln w="1905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8" name="Google Shape;28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7552" y="6350105"/>
            <a:ext cx="1379496" cy="329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34" name="Google Shape;34;p12"/>
          <p:cNvCxnSpPr/>
          <p:nvPr/>
        </p:nvCxnSpPr>
        <p:spPr>
          <a:xfrm rot="10800000" flipH="1">
            <a:off x="414804" y="664240"/>
            <a:ext cx="11772000" cy="8629"/>
          </a:xfrm>
          <a:prstGeom prst="straightConnector1">
            <a:avLst/>
          </a:prstGeom>
          <a:noFill/>
          <a:ln w="28575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" name="Google Shape;35;p12"/>
          <p:cNvCxnSpPr/>
          <p:nvPr/>
        </p:nvCxnSpPr>
        <p:spPr>
          <a:xfrm rot="10800000" flipH="1">
            <a:off x="414804" y="6270968"/>
            <a:ext cx="11772000" cy="8629"/>
          </a:xfrm>
          <a:prstGeom prst="straightConnector1">
            <a:avLst/>
          </a:prstGeom>
          <a:noFill/>
          <a:ln w="1905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6" name="Google Shape;36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7552" y="6350105"/>
            <a:ext cx="1379496" cy="329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43" name="Google Shape;43;p13"/>
          <p:cNvCxnSpPr/>
          <p:nvPr/>
        </p:nvCxnSpPr>
        <p:spPr>
          <a:xfrm rot="10800000" flipH="1">
            <a:off x="414804" y="655614"/>
            <a:ext cx="11772000" cy="8629"/>
          </a:xfrm>
          <a:prstGeom prst="straightConnector1">
            <a:avLst/>
          </a:prstGeom>
          <a:noFill/>
          <a:ln w="28575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" name="Google Shape;44;p13"/>
          <p:cNvCxnSpPr/>
          <p:nvPr/>
        </p:nvCxnSpPr>
        <p:spPr>
          <a:xfrm rot="10800000" flipH="1">
            <a:off x="414804" y="6262342"/>
            <a:ext cx="11772000" cy="8629"/>
          </a:xfrm>
          <a:prstGeom prst="straightConnector1">
            <a:avLst/>
          </a:prstGeom>
          <a:noFill/>
          <a:ln w="1905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45" name="Google Shape;45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7552" y="6350105"/>
            <a:ext cx="1379496" cy="329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54" name="Google Shape;54;p14"/>
          <p:cNvCxnSpPr/>
          <p:nvPr/>
        </p:nvCxnSpPr>
        <p:spPr>
          <a:xfrm rot="10800000" flipH="1">
            <a:off x="414804" y="655614"/>
            <a:ext cx="11772000" cy="8629"/>
          </a:xfrm>
          <a:prstGeom prst="straightConnector1">
            <a:avLst/>
          </a:prstGeom>
          <a:noFill/>
          <a:ln w="28575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5" name="Google Shape;55;p14"/>
          <p:cNvCxnSpPr/>
          <p:nvPr/>
        </p:nvCxnSpPr>
        <p:spPr>
          <a:xfrm rot="10800000" flipH="1">
            <a:off x="414804" y="6262342"/>
            <a:ext cx="11772000" cy="8629"/>
          </a:xfrm>
          <a:prstGeom prst="straightConnector1">
            <a:avLst/>
          </a:prstGeom>
          <a:noFill/>
          <a:ln w="1905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6" name="Google Shape;5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7552" y="6350105"/>
            <a:ext cx="1379496" cy="329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61" name="Google Shape;61;p15"/>
          <p:cNvCxnSpPr/>
          <p:nvPr/>
        </p:nvCxnSpPr>
        <p:spPr>
          <a:xfrm rot="10800000" flipH="1">
            <a:off x="414804" y="655614"/>
            <a:ext cx="11772000" cy="8629"/>
          </a:xfrm>
          <a:prstGeom prst="straightConnector1">
            <a:avLst/>
          </a:prstGeom>
          <a:noFill/>
          <a:ln w="28575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" name="Google Shape;62;p15"/>
          <p:cNvCxnSpPr/>
          <p:nvPr/>
        </p:nvCxnSpPr>
        <p:spPr>
          <a:xfrm rot="10800000" flipH="1">
            <a:off x="414804" y="6262342"/>
            <a:ext cx="11772000" cy="8629"/>
          </a:xfrm>
          <a:prstGeom prst="straightConnector1">
            <a:avLst/>
          </a:prstGeom>
          <a:noFill/>
          <a:ln w="1905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3" name="Google Shape;63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7552" y="6350105"/>
            <a:ext cx="1379496" cy="329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67" name="Google Shape;67;p16"/>
          <p:cNvCxnSpPr/>
          <p:nvPr/>
        </p:nvCxnSpPr>
        <p:spPr>
          <a:xfrm rot="10800000" flipH="1">
            <a:off x="414804" y="655614"/>
            <a:ext cx="11772000" cy="8629"/>
          </a:xfrm>
          <a:prstGeom prst="straightConnector1">
            <a:avLst/>
          </a:prstGeom>
          <a:noFill/>
          <a:ln w="28575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8" name="Google Shape;68;p16"/>
          <p:cNvCxnSpPr/>
          <p:nvPr/>
        </p:nvCxnSpPr>
        <p:spPr>
          <a:xfrm rot="10800000" flipH="1">
            <a:off x="414804" y="6262342"/>
            <a:ext cx="11772000" cy="8629"/>
          </a:xfrm>
          <a:prstGeom prst="straightConnector1">
            <a:avLst/>
          </a:prstGeom>
          <a:noFill/>
          <a:ln w="1905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9" name="Google Shape;6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7552" y="6350105"/>
            <a:ext cx="1379496" cy="329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76" name="Google Shape;76;p17"/>
          <p:cNvCxnSpPr/>
          <p:nvPr/>
        </p:nvCxnSpPr>
        <p:spPr>
          <a:xfrm rot="10800000" flipH="1">
            <a:off x="414804" y="655614"/>
            <a:ext cx="11772000" cy="8629"/>
          </a:xfrm>
          <a:prstGeom prst="straightConnector1">
            <a:avLst/>
          </a:prstGeom>
          <a:noFill/>
          <a:ln w="28575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" name="Google Shape;77;p17"/>
          <p:cNvCxnSpPr/>
          <p:nvPr/>
        </p:nvCxnSpPr>
        <p:spPr>
          <a:xfrm rot="10800000" flipH="1">
            <a:off x="414804" y="6262342"/>
            <a:ext cx="11772000" cy="8629"/>
          </a:xfrm>
          <a:prstGeom prst="straightConnector1">
            <a:avLst/>
          </a:prstGeom>
          <a:noFill/>
          <a:ln w="1905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8" name="Google Shape;78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7552" y="6350105"/>
            <a:ext cx="1379496" cy="329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85" name="Google Shape;85;p18"/>
          <p:cNvCxnSpPr/>
          <p:nvPr/>
        </p:nvCxnSpPr>
        <p:spPr>
          <a:xfrm rot="10800000" flipH="1">
            <a:off x="414804" y="655614"/>
            <a:ext cx="11772000" cy="8629"/>
          </a:xfrm>
          <a:prstGeom prst="straightConnector1">
            <a:avLst/>
          </a:prstGeom>
          <a:noFill/>
          <a:ln w="28575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6" name="Google Shape;86;p18"/>
          <p:cNvCxnSpPr/>
          <p:nvPr/>
        </p:nvCxnSpPr>
        <p:spPr>
          <a:xfrm rot="10800000" flipH="1">
            <a:off x="414804" y="6262342"/>
            <a:ext cx="11772000" cy="8629"/>
          </a:xfrm>
          <a:prstGeom prst="straightConnector1">
            <a:avLst/>
          </a:prstGeom>
          <a:noFill/>
          <a:ln w="1905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7" name="Google Shape;8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7552" y="6350105"/>
            <a:ext cx="1379496" cy="329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93" name="Google Shape;93;p19"/>
          <p:cNvCxnSpPr/>
          <p:nvPr/>
        </p:nvCxnSpPr>
        <p:spPr>
          <a:xfrm rot="10800000" flipH="1">
            <a:off x="414804" y="655614"/>
            <a:ext cx="11772000" cy="8629"/>
          </a:xfrm>
          <a:prstGeom prst="straightConnector1">
            <a:avLst/>
          </a:prstGeom>
          <a:noFill/>
          <a:ln w="28575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4" name="Google Shape;94;p19"/>
          <p:cNvCxnSpPr/>
          <p:nvPr/>
        </p:nvCxnSpPr>
        <p:spPr>
          <a:xfrm rot="10800000" flipH="1">
            <a:off x="414804" y="6262342"/>
            <a:ext cx="11772000" cy="8629"/>
          </a:xfrm>
          <a:prstGeom prst="straightConnector1">
            <a:avLst/>
          </a:prstGeom>
          <a:noFill/>
          <a:ln w="1905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5" name="Google Shape;95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7552" y="6350105"/>
            <a:ext cx="1379496" cy="329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101" name="Google Shape;101;p20"/>
          <p:cNvCxnSpPr/>
          <p:nvPr/>
        </p:nvCxnSpPr>
        <p:spPr>
          <a:xfrm rot="10800000" flipH="1">
            <a:off x="414804" y="655614"/>
            <a:ext cx="11772000" cy="8629"/>
          </a:xfrm>
          <a:prstGeom prst="straightConnector1">
            <a:avLst/>
          </a:prstGeom>
          <a:noFill/>
          <a:ln w="28575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2" name="Google Shape;102;p20"/>
          <p:cNvCxnSpPr/>
          <p:nvPr/>
        </p:nvCxnSpPr>
        <p:spPr>
          <a:xfrm rot="10800000" flipH="1">
            <a:off x="414804" y="6262342"/>
            <a:ext cx="11772000" cy="8629"/>
          </a:xfrm>
          <a:prstGeom prst="straightConnector1">
            <a:avLst/>
          </a:prstGeom>
          <a:noFill/>
          <a:ln w="1905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3" name="Google Shape;10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7552" y="6350105"/>
            <a:ext cx="1379496" cy="329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>
            <a:spLocks noGrp="1"/>
          </p:cNvSpPr>
          <p:nvPr>
            <p:ph type="ctrTitle" idx="4294967295"/>
          </p:nvPr>
        </p:nvSpPr>
        <p:spPr>
          <a:xfrm>
            <a:off x="2699657" y="1270639"/>
            <a:ext cx="6836229" cy="1028427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KR"/>
              <a:buNone/>
            </a:pPr>
            <a:r>
              <a:rPr lang="ko-KR" sz="3200" b="1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WE-Meet 프로젝트 결과보고서</a:t>
            </a:r>
            <a:endParaRPr/>
          </a:p>
        </p:txBody>
      </p:sp>
      <p:sp>
        <p:nvSpPr>
          <p:cNvPr id="109" name="Google Shape;109;p1"/>
          <p:cNvSpPr txBox="1">
            <a:spLocks noGrp="1"/>
          </p:cNvSpPr>
          <p:nvPr>
            <p:ph type="subTitle" idx="4294967295"/>
          </p:nvPr>
        </p:nvSpPr>
        <p:spPr>
          <a:xfrm>
            <a:off x="1976844" y="2347231"/>
            <a:ext cx="827314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ko-KR" sz="2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altLang="en-US" sz="2400" b="1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딥러닝 기반 상황인지 </a:t>
            </a:r>
            <a:r>
              <a:rPr lang="en-US" altLang="ko-KR" sz="2400" b="1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Platooning </a:t>
            </a:r>
            <a:r>
              <a:rPr lang="ko-KR" altLang="en-US" sz="2400" b="1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시스템</a:t>
            </a:r>
            <a:r>
              <a:rPr lang="ko-KR" sz="2400" b="1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endParaRPr sz="2400" b="0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83750" y="4613534"/>
            <a:ext cx="9144000" cy="135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rPr lang="ko-KR" sz="1400" b="1" i="0" u="none" strike="noStrike" cap="none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참여 프로젝트 </a:t>
            </a:r>
            <a:r>
              <a:rPr lang="ko-KR" sz="1400" b="1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ko-KR" altLang="en-US" b="1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딥러닝 기반 상황인지 </a:t>
            </a:r>
            <a:r>
              <a:rPr lang="en-US" altLang="ko-KR" b="1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Platooning </a:t>
            </a:r>
            <a:r>
              <a:rPr lang="ko-KR" altLang="en-US" b="1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보조 시스템</a:t>
            </a:r>
            <a:endParaRPr smtClean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rPr lang="ko-KR" sz="1400" b="1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멘토/지도교수 : </a:t>
            </a:r>
            <a:r>
              <a:rPr lang="ko-KR" altLang="en-US" b="1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███</a:t>
            </a:r>
            <a:r>
              <a:rPr lang="ko-KR" b="1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 /</a:t>
            </a:r>
            <a:r>
              <a:rPr lang="en-US" altLang="ko-KR" b="1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b="1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███</a:t>
            </a:r>
            <a:endParaRPr smtClean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rPr lang="ko-KR" sz="1400" b="1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팀        </a:t>
            </a:r>
            <a:r>
              <a:rPr lang="ko-KR" sz="1400" b="1" i="0" u="none" strike="noStrike" cap="none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명 : </a:t>
            </a:r>
            <a:r>
              <a:rPr lang="en-US" altLang="ko-KR" b="1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EEgo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rPr lang="ko-KR" sz="1400" b="1" i="0" u="none" strike="noStrike" cap="none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팀        원 : </a:t>
            </a:r>
            <a:r>
              <a:rPr lang="ko-KR" altLang="en-US" b="1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███</a:t>
            </a:r>
            <a:r>
              <a:rPr lang="en-US" altLang="ko-KR" b="1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b="1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███</a:t>
            </a:r>
            <a:r>
              <a:rPr lang="en-US" altLang="ko-KR" b="1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b="1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오승현</a:t>
            </a:r>
            <a:endParaRPr/>
          </a:p>
        </p:txBody>
      </p:sp>
      <p:cxnSp>
        <p:nvCxnSpPr>
          <p:cNvPr id="111" name="Google Shape;111;p1"/>
          <p:cNvCxnSpPr/>
          <p:nvPr/>
        </p:nvCxnSpPr>
        <p:spPr>
          <a:xfrm rot="10800000" flipH="1">
            <a:off x="0" y="4292786"/>
            <a:ext cx="12192000" cy="12943"/>
          </a:xfrm>
          <a:prstGeom prst="straightConnector1">
            <a:avLst/>
          </a:prstGeom>
          <a:noFill/>
          <a:ln w="28575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>
            <a:spLocks noGrp="1"/>
          </p:cNvSpPr>
          <p:nvPr>
            <p:ph type="title"/>
          </p:nvPr>
        </p:nvSpPr>
        <p:spPr>
          <a:xfrm>
            <a:off x="322811" y="207186"/>
            <a:ext cx="10515600" cy="40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None/>
            </a:pPr>
            <a:r>
              <a:rPr lang="ko-KR" sz="2000" b="1">
                <a:latin typeface="Noto Sans"/>
                <a:ea typeface="Noto Sans"/>
                <a:cs typeface="Noto Sans"/>
                <a:sym typeface="Noto Sans"/>
              </a:rPr>
              <a:t>1. 프로젝트 개요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322810" y="853159"/>
            <a:ext cx="11784197" cy="466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KR"/>
              <a:buChar char="-"/>
            </a:pPr>
            <a:r>
              <a:rPr lang="ko-KR" sz="1800" b="1" i="0" u="none" strike="noStrike" cap="none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</a:t>
            </a:r>
            <a:r>
              <a:rPr lang="ko-KR" sz="1800" b="1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소개</a:t>
            </a:r>
            <a:endParaRPr lang="en-US" altLang="ko-KR" sz="1800" b="1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342900" lvl="0" indent="-342900">
              <a:lnSpc>
                <a:spcPct val="150000"/>
              </a:lnSpc>
              <a:buClr>
                <a:srgbClr val="0070C0"/>
              </a:buClr>
              <a:buSzPts val="1800"/>
              <a:buFont typeface="+mj-lt"/>
              <a:buAutoNum type="arabicPeriod"/>
            </a:pP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본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프로젝트는 딥러닝 기반 상황 인지와 자율주행 제어를 결합한 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Platooning(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군집주행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)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보조 시스템을 구현하는 것을 목표로 한다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</a:p>
          <a:p>
            <a:pPr marL="342900" lvl="0" indent="-342900">
              <a:lnSpc>
                <a:spcPct val="150000"/>
              </a:lnSpc>
              <a:buClr>
                <a:srgbClr val="0070C0"/>
              </a:buClr>
              <a:buSzPts val="1800"/>
              <a:buFont typeface="+mj-lt"/>
              <a:buAutoNum type="arabicPeriod"/>
            </a:pP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CNN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기반 상황 분류와 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Lane Detection, ACC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를 결합하여 리더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–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팔로워 차량 간 협력 주행을 수행한다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</a:p>
          <a:p>
            <a:pPr marL="342900" lvl="0" indent="-342900">
              <a:lnSpc>
                <a:spcPct val="150000"/>
              </a:lnSpc>
              <a:buClr>
                <a:srgbClr val="0070C0"/>
              </a:buClr>
              <a:buSzPts val="1800"/>
              <a:buFont typeface="+mj-lt"/>
              <a:buAutoNum type="arabicPeriod"/>
            </a:pP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5G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특화망 기반 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V2V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통신을 통해 실시간 주행 모드 동기화 및 리더 변경 기능을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포함한다</a:t>
            </a: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</a:p>
          <a:p>
            <a:pPr lvl="0">
              <a:lnSpc>
                <a:spcPct val="150000"/>
              </a:lnSpc>
              <a:buClr>
                <a:srgbClr val="0070C0"/>
              </a:buClr>
              <a:buSzPts val="1800"/>
            </a:pPr>
            <a:endParaRPr lang="en-US" altLang="ko-KR" sz="180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KR"/>
              <a:buChar char="-"/>
            </a:pPr>
            <a:r>
              <a:rPr lang="ko-KR" sz="1800" b="1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</a:t>
            </a:r>
            <a:r>
              <a:rPr lang="ko-KR" sz="1800" b="1" i="0" u="none" strike="noStrike" cap="none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달성 </a:t>
            </a:r>
            <a:r>
              <a:rPr lang="ko-KR" sz="1800" b="1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목표</a:t>
            </a:r>
            <a:endParaRPr lang="en-US" altLang="ko-KR" sz="1800" b="1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342900" lvl="0" indent="-342900">
              <a:lnSpc>
                <a:spcPct val="150000"/>
              </a:lnSpc>
              <a:buClr>
                <a:srgbClr val="0070C0"/>
              </a:buClr>
              <a:buSzPts val="1800"/>
              <a:buFont typeface="+mj-lt"/>
              <a:buAutoNum type="arabicPeriod"/>
            </a:pP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딥러닝 기반 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Platooning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보조 시스템 데모</a:t>
            </a:r>
          </a:p>
          <a:p>
            <a:pPr marL="342900" lvl="0" indent="-342900">
              <a:lnSpc>
                <a:spcPct val="150000"/>
              </a:lnSpc>
              <a:buClr>
                <a:srgbClr val="0070C0"/>
              </a:buClr>
              <a:buSzPts val="1800"/>
              <a:buFont typeface="+mj-lt"/>
              <a:buAutoNum type="arabicPeriod"/>
            </a:pP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Leader–Follower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구조의 군집주행 제어 아키텍처</a:t>
            </a:r>
          </a:p>
          <a:p>
            <a:pPr marL="342900" lvl="0" indent="-342900">
              <a:lnSpc>
                <a:spcPct val="150000"/>
              </a:lnSpc>
              <a:buClr>
                <a:srgbClr val="0070C0"/>
              </a:buClr>
              <a:buSzPts val="1800"/>
              <a:buFont typeface="+mj-lt"/>
              <a:buAutoNum type="arabicPeriod"/>
            </a:pP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CNN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상황 인지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, Lane Detection, ACC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가 결합된 통합 자율주행 제어 구조</a:t>
            </a:r>
          </a:p>
          <a:p>
            <a:pPr marL="342900" lvl="0" indent="-342900">
              <a:lnSpc>
                <a:spcPct val="150000"/>
              </a:lnSpc>
              <a:buClr>
                <a:srgbClr val="0070C0"/>
              </a:buClr>
              <a:buSzPts val="1800"/>
              <a:buFont typeface="+mj-lt"/>
              <a:buAutoNum type="arabicPeriod"/>
            </a:pP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5G V2V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통신을 통한 실시간 주행 모드 동기화 및 리더 변경 기능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>
            <a:spLocks noGrp="1"/>
          </p:cNvSpPr>
          <p:nvPr>
            <p:ph type="title"/>
          </p:nvPr>
        </p:nvSpPr>
        <p:spPr>
          <a:xfrm>
            <a:off x="322811" y="207186"/>
            <a:ext cx="10515600" cy="40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None/>
            </a:pPr>
            <a:r>
              <a:rPr lang="ko-KR" sz="2000" b="1">
                <a:latin typeface="Noto Sans"/>
                <a:ea typeface="Noto Sans"/>
                <a:cs typeface="Noto Sans"/>
                <a:sym typeface="Noto Sans"/>
              </a:rPr>
              <a:t>1. 프로젝트 개요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322810" y="853159"/>
            <a:ext cx="11784197" cy="466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150000"/>
              </a:lnSpc>
              <a:buClr>
                <a:srgbClr val="0070C0"/>
              </a:buClr>
              <a:buSzPts val="1800"/>
              <a:buFontTx/>
              <a:buChar char="-"/>
            </a:pPr>
            <a:r>
              <a:rPr lang="ko-KR" altLang="en-US" sz="1800" b="1" smtClean="0">
                <a:solidFill>
                  <a:srgbClr val="0070C0"/>
                </a:solidFill>
                <a:latin typeface="Noto Sans KR"/>
                <a:ea typeface="Noto Sans KR"/>
                <a:sym typeface="Noto Sans KR"/>
              </a:rPr>
              <a:t>추진 배경 및 필요성</a:t>
            </a:r>
            <a:endParaRPr lang="en-US" altLang="ko-KR" sz="1800" b="1" smtClean="0">
              <a:solidFill>
                <a:srgbClr val="0070C0"/>
              </a:solidFill>
              <a:latin typeface="Noto Sans KR"/>
              <a:ea typeface="Noto Sans KR"/>
              <a:sym typeface="Noto Sans KR"/>
            </a:endParaRPr>
          </a:p>
          <a:p>
            <a:pPr marL="342900" lvl="0" indent="-342900">
              <a:lnSpc>
                <a:spcPct val="150000"/>
              </a:lnSpc>
              <a:buClr>
                <a:srgbClr val="0070C0"/>
              </a:buClr>
              <a:buSzPts val="1800"/>
              <a:buFont typeface="+mj-lt"/>
              <a:buAutoNum type="arabicPeriod"/>
            </a:pP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자율주행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환경에서 **차량 간 협력 주행 기술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(Platooning)**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의 중요성 증가</a:t>
            </a:r>
          </a:p>
          <a:p>
            <a:pPr marL="342900" lvl="0" indent="-342900">
              <a:lnSpc>
                <a:spcPct val="150000"/>
              </a:lnSpc>
              <a:buClr>
                <a:srgbClr val="0070C0"/>
              </a:buClr>
              <a:buSzPts val="1800"/>
              <a:buFont typeface="+mj-lt"/>
              <a:buAutoNum type="arabicPeriod"/>
            </a:pP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단일 차량 자율주행의 한계를 보완하는 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V2V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기반 집단 지능 주행 필요</a:t>
            </a:r>
          </a:p>
          <a:p>
            <a:pPr marL="342900" lvl="0" indent="-342900">
              <a:lnSpc>
                <a:spcPct val="150000"/>
              </a:lnSpc>
              <a:buClr>
                <a:srgbClr val="0070C0"/>
              </a:buClr>
              <a:buSzPts val="1800"/>
              <a:buFont typeface="+mj-lt"/>
              <a:buAutoNum type="arabicPeriod"/>
            </a:pP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딥러닝 기반 상황 인지와 통신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제어 통합 구조에 대한 실증적 구현 필요성</a:t>
            </a:r>
          </a:p>
          <a:p>
            <a:pPr marL="342900" lvl="0" indent="-342900">
              <a:lnSpc>
                <a:spcPct val="150000"/>
              </a:lnSpc>
              <a:buClr>
                <a:srgbClr val="0070C0"/>
              </a:buClr>
              <a:buSzPts val="1800"/>
              <a:buFont typeface="+mj-lt"/>
              <a:buAutoNum type="arabicPeriod"/>
            </a:pP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환경을 축소한 테스트베드에서 통합 시스템 검증 목적</a:t>
            </a:r>
          </a:p>
          <a:p>
            <a:pPr marL="285750" lvl="0" indent="-285750">
              <a:lnSpc>
                <a:spcPct val="150000"/>
              </a:lnSpc>
              <a:buClr>
                <a:srgbClr val="0070C0"/>
              </a:buClr>
              <a:buSzPts val="1800"/>
              <a:buFontTx/>
              <a:buChar char="-"/>
            </a:pPr>
            <a:endParaRPr sz="1800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KR"/>
              <a:buChar char="-"/>
            </a:pPr>
            <a:r>
              <a:rPr lang="ko-KR" sz="1800" b="1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예상 </a:t>
            </a:r>
            <a:r>
              <a:rPr lang="ko-KR" sz="1800" b="1" i="0" u="none" strike="noStrike" cap="none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결과물(구성도, 특징, 장점 등</a:t>
            </a:r>
            <a:r>
              <a:rPr lang="ko-KR" sz="1800" b="1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lang="en-US" altLang="ko-KR" sz="1800" b="1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285750" lvl="0" indent="-285750">
              <a:lnSpc>
                <a:spcPct val="150000"/>
              </a:lnSpc>
              <a:buClr>
                <a:srgbClr val="0070C0"/>
              </a:buClr>
              <a:buSzPts val="1800"/>
              <a:buFont typeface="Noto Sans KR"/>
              <a:buChar char="-"/>
            </a:pP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구성도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Leader / Follower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차량 구조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Perception–Decision–Networking–Control 4-Layer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아키텍처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5G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기반 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V2V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통신 및 주행 모드 브로드캐스트 구조특징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CNN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기반 실시간 주행 상황 인지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Lane Detection + ACC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결합 제어리더 명령 동기화 및 자동 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Leader Change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기능장점안정적인 군집주행 및 주행 일관성 확보모듈화된 구조로 확장 및 응용 용이자율주행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물류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배송 로봇 등 다양한 분야로 확장 가능</a:t>
            </a:r>
            <a:endParaRPr sz="1800" b="0" i="0" u="none" strike="noStrike" cap="none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328748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>
            <a:spLocks noGrp="1"/>
          </p:cNvSpPr>
          <p:nvPr>
            <p:ph type="title"/>
          </p:nvPr>
        </p:nvSpPr>
        <p:spPr>
          <a:xfrm>
            <a:off x="322811" y="207186"/>
            <a:ext cx="10515600" cy="40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None/>
            </a:pPr>
            <a:r>
              <a:rPr lang="ko-KR" sz="2000" b="1">
                <a:latin typeface="Noto Sans"/>
                <a:ea typeface="Noto Sans"/>
                <a:cs typeface="Noto Sans"/>
                <a:sym typeface="Noto Sans"/>
              </a:rPr>
              <a:t>2. 프로젝트 수행과정</a:t>
            </a:r>
            <a:endParaRPr sz="20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322810" y="853159"/>
            <a:ext cx="11054435" cy="6324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KR"/>
              <a:buChar char="-"/>
            </a:pPr>
            <a:r>
              <a:rPr lang="ko-KR" sz="1800" b="1" i="0" u="none" strike="noStrike" cap="none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업무분장(멘토, 지도교수, 팀장, 팀원별 담당업무)</a:t>
            </a:r>
            <a:endParaRPr sz="1800" b="1" i="0" u="none" strike="noStrike" cap="none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lvl="0">
              <a:lnSpc>
                <a:spcPct val="150000"/>
              </a:lnSpc>
              <a:buClr>
                <a:srgbClr val="0070C0"/>
              </a:buClr>
              <a:buSzPts val="1800"/>
            </a:pP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[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지도교수 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/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멘토</a:t>
            </a: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]</a:t>
            </a:r>
            <a:endParaRPr lang="ko-KR" altLang="en-US" sz="180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lvl="0">
              <a:lnSpc>
                <a:spcPct val="150000"/>
              </a:lnSpc>
              <a:buClr>
                <a:srgbClr val="0070C0"/>
              </a:buClr>
              <a:buSzPts val="1800"/>
            </a:pP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방향성 자문 및 기술적 피드백 제공</a:t>
            </a:r>
          </a:p>
          <a:p>
            <a:pPr lvl="0">
              <a:lnSpc>
                <a:spcPct val="150000"/>
              </a:lnSpc>
              <a:buClr>
                <a:srgbClr val="0070C0"/>
              </a:buClr>
              <a:buSzPts val="1800"/>
            </a:pPr>
            <a:endParaRPr lang="en-US" altLang="ko-KR" sz="1800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lvl="0">
              <a:lnSpc>
                <a:spcPct val="150000"/>
              </a:lnSpc>
              <a:buClr>
                <a:srgbClr val="0070C0"/>
              </a:buClr>
              <a:buSzPts val="1800"/>
            </a:pP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팀장 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|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███</a:t>
            </a:r>
          </a:p>
          <a:p>
            <a:pPr lvl="0">
              <a:lnSpc>
                <a:spcPct val="150000"/>
              </a:lnSpc>
              <a:buClr>
                <a:srgbClr val="0070C0"/>
              </a:buClr>
              <a:buSzPts val="1800"/>
            </a:pP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전체 일정 및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진행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관리</a:t>
            </a: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, CNN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및 딥러닝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모델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구현</a:t>
            </a: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, PiCar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초기 구동을 위한 전체 스켈레톤 코드 설계</a:t>
            </a:r>
          </a:p>
          <a:p>
            <a:pPr lvl="0">
              <a:lnSpc>
                <a:spcPct val="150000"/>
              </a:lnSpc>
              <a:buClr>
                <a:srgbClr val="0070C0"/>
              </a:buClr>
              <a:buSzPts val="1800"/>
            </a:pPr>
            <a:endParaRPr lang="en-US" altLang="ko-KR" sz="1800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lvl="0">
              <a:lnSpc>
                <a:spcPct val="150000"/>
              </a:lnSpc>
              <a:buClr>
                <a:srgbClr val="0070C0"/>
              </a:buClr>
              <a:buSzPts val="1800"/>
            </a:pP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팀원 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|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███</a:t>
            </a:r>
          </a:p>
          <a:p>
            <a:pPr>
              <a:lnSpc>
                <a:spcPct val="150000"/>
              </a:lnSpc>
              <a:buClr>
                <a:srgbClr val="0070C0"/>
              </a:buClr>
              <a:buSzPts val="1800"/>
            </a:pP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스켈레톤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코드 기반 제어 로직 변형 및 확장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, Platooning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및 통신 연동 기능 구현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반복 실험을 통한 차량 동작 안정화</a:t>
            </a:r>
          </a:p>
          <a:p>
            <a:pPr lvl="0">
              <a:lnSpc>
                <a:spcPct val="150000"/>
              </a:lnSpc>
              <a:buClr>
                <a:srgbClr val="0070C0"/>
              </a:buClr>
              <a:buSzPts val="1800"/>
            </a:pPr>
            <a:endParaRPr lang="en-US" altLang="ko-KR" sz="1800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lvl="0">
              <a:lnSpc>
                <a:spcPct val="150000"/>
              </a:lnSpc>
              <a:buClr>
                <a:srgbClr val="0070C0"/>
              </a:buClr>
              <a:buSzPts val="1800"/>
            </a:pP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팀원 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|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오승현</a:t>
            </a:r>
          </a:p>
          <a:p>
            <a:pPr lvl="0">
              <a:lnSpc>
                <a:spcPct val="150000"/>
              </a:lnSpc>
              <a:buClr>
                <a:srgbClr val="0070C0"/>
              </a:buClr>
              <a:buSzPts val="1800"/>
            </a:pP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스켈레톤 코드 기반 주행 로직 수정 및 기능 구현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차선 인식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주행 모드 제어 알고리즘 개선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및 테스트 결과 분석</a:t>
            </a:r>
          </a:p>
          <a:p>
            <a:pPr lvl="0">
              <a:lnSpc>
                <a:spcPct val="150000"/>
              </a:lnSpc>
              <a:buClr>
                <a:srgbClr val="0070C0"/>
              </a:buClr>
              <a:buSzPts val="1800"/>
            </a:pPr>
            <a:endParaRPr lang="ko-KR" altLang="en-US" sz="180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</a:pPr>
            <a:r>
              <a:rPr lang="ko-KR" sz="1800" b="0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800" b="0" i="0" u="none" strike="noStrike" cap="none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3399311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>
            <a:spLocks noGrp="1"/>
          </p:cNvSpPr>
          <p:nvPr>
            <p:ph type="title"/>
          </p:nvPr>
        </p:nvSpPr>
        <p:spPr>
          <a:xfrm>
            <a:off x="322811" y="207186"/>
            <a:ext cx="10515600" cy="40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None/>
            </a:pPr>
            <a:r>
              <a:rPr lang="ko-KR" sz="2000" b="1">
                <a:latin typeface="Noto Sans"/>
                <a:ea typeface="Noto Sans"/>
                <a:cs typeface="Noto Sans"/>
                <a:sym typeface="Noto Sans"/>
              </a:rPr>
              <a:t>2. 프로젝트 수행과정</a:t>
            </a:r>
            <a:endParaRPr sz="20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322811" y="853159"/>
            <a:ext cx="6963900" cy="466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KR"/>
              <a:buChar char="-"/>
            </a:pPr>
            <a:r>
              <a:rPr lang="ko-KR" sz="1800" b="1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</a:t>
            </a:r>
            <a:r>
              <a:rPr lang="ko-KR" sz="1800" b="1" i="0" u="none" strike="noStrike" cap="none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수행 </a:t>
            </a:r>
            <a:r>
              <a:rPr lang="ko-KR" sz="1800" b="1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일정</a:t>
            </a:r>
            <a:endParaRPr lang="en-US" altLang="ko-KR" sz="1800" b="1" i="0" u="none" strike="noStrike" cap="none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KR"/>
              <a:buChar char="-"/>
            </a:pPr>
            <a:endParaRPr lang="en-US" altLang="ko-KR" sz="1800" b="1" i="0" u="none" strike="noStrike" cap="none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285750" lvl="0" indent="-285750">
              <a:lnSpc>
                <a:spcPct val="150000"/>
              </a:lnSpc>
              <a:buClr>
                <a:srgbClr val="0070C0"/>
              </a:buClr>
              <a:buSzPts val="1800"/>
              <a:buFont typeface="Wingdings" panose="05000000000000000000" pitchFamily="2" charset="2"/>
              <a:buChar char="u"/>
            </a:pP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단계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: PiCar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기본 구동 및 개발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환경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구축</a:t>
            </a:r>
            <a:endParaRPr lang="en-US" altLang="ko-KR" sz="1800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285750" lvl="0" indent="-285750">
              <a:lnSpc>
                <a:spcPct val="150000"/>
              </a:lnSpc>
              <a:buClr>
                <a:srgbClr val="0070C0"/>
              </a:buClr>
              <a:buSzPts val="1800"/>
              <a:buFont typeface="Wingdings" panose="05000000000000000000" pitchFamily="2" charset="2"/>
              <a:buChar char="u"/>
            </a:pPr>
            <a:endParaRPr lang="ko-KR" altLang="en-US" sz="180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285750" lvl="0" indent="-285750">
              <a:lnSpc>
                <a:spcPct val="150000"/>
              </a:lnSpc>
              <a:buClr>
                <a:srgbClr val="0070C0"/>
              </a:buClr>
              <a:buSzPts val="1800"/>
              <a:buFont typeface="Wingdings" panose="05000000000000000000" pitchFamily="2" charset="2"/>
              <a:buChar char="u"/>
            </a:pP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단계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개별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기능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구현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b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차선 인식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차선 변경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, ACC, Platooning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등</a:t>
            </a: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</a:p>
          <a:p>
            <a:pPr marL="285750" lvl="0" indent="-285750">
              <a:lnSpc>
                <a:spcPct val="150000"/>
              </a:lnSpc>
              <a:buClr>
                <a:srgbClr val="0070C0"/>
              </a:buClr>
              <a:buSzPts val="1800"/>
              <a:buFont typeface="Wingdings" panose="05000000000000000000" pitchFamily="2" charset="2"/>
              <a:buChar char="u"/>
            </a:pPr>
            <a:endParaRPr lang="en-US" altLang="ko-KR" sz="180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285750" lvl="0" indent="-285750">
              <a:lnSpc>
                <a:spcPct val="150000"/>
              </a:lnSpc>
              <a:buClr>
                <a:srgbClr val="0070C0"/>
              </a:buClr>
              <a:buSzPts val="1800"/>
              <a:buFont typeface="Wingdings" panose="05000000000000000000" pitchFamily="2" charset="2"/>
              <a:buChar char="u"/>
            </a:pP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단계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주행 모드별 기능 고도화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및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안정화</a:t>
            </a:r>
            <a:endParaRPr lang="en-US" altLang="ko-KR" sz="1800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285750" lvl="0" indent="-285750">
              <a:lnSpc>
                <a:spcPct val="150000"/>
              </a:lnSpc>
              <a:buClr>
                <a:srgbClr val="0070C0"/>
              </a:buClr>
              <a:buSzPts val="1800"/>
              <a:buFont typeface="Wingdings" panose="05000000000000000000" pitchFamily="2" charset="2"/>
              <a:buChar char="u"/>
            </a:pPr>
            <a:endParaRPr lang="ko-KR" altLang="en-US" sz="180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285750" lvl="0" indent="-285750">
              <a:lnSpc>
                <a:spcPct val="150000"/>
              </a:lnSpc>
              <a:buClr>
                <a:srgbClr val="0070C0"/>
              </a:buClr>
              <a:buSzPts val="1800"/>
              <a:buFont typeface="Wingdings" panose="05000000000000000000" pitchFamily="2" charset="2"/>
              <a:buChar char="u"/>
            </a:pP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단계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시스템 통합 및 군집주행 시나리오 구현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</a:pPr>
            <a:endParaRPr sz="1800" b="0" i="0" u="none" strike="noStrike" cap="none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943666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>
            <a:spLocks noGrp="1"/>
          </p:cNvSpPr>
          <p:nvPr>
            <p:ph type="title"/>
          </p:nvPr>
        </p:nvSpPr>
        <p:spPr>
          <a:xfrm>
            <a:off x="322811" y="207186"/>
            <a:ext cx="10515600" cy="40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None/>
            </a:pPr>
            <a:r>
              <a:rPr lang="ko-KR" sz="2000" b="1">
                <a:latin typeface="Noto Sans"/>
                <a:ea typeface="Noto Sans"/>
                <a:cs typeface="Noto Sans"/>
                <a:sym typeface="Noto Sans"/>
              </a:rPr>
              <a:t>2. 프로젝트 수행과정</a:t>
            </a:r>
            <a:endParaRPr sz="20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322811" y="853159"/>
            <a:ext cx="10975304" cy="5493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KR"/>
              <a:buChar char="-"/>
            </a:pPr>
            <a:r>
              <a:rPr lang="ko-KR" sz="1800" b="1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</a:t>
            </a:r>
            <a:r>
              <a:rPr lang="ko-KR" sz="1800" b="1" i="0" u="none" strike="noStrike" cap="none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수행 </a:t>
            </a:r>
            <a:r>
              <a:rPr lang="ko-KR" altLang="en-US" sz="1800" b="1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과정에서 발생한 문제 해결 과정</a:t>
            </a:r>
            <a:endParaRPr lang="en-US" altLang="ko-KR" sz="1800" b="1" i="0" u="none" strike="noStrike" cap="none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KR"/>
              <a:buChar char="-"/>
            </a:pPr>
            <a:endParaRPr lang="en-US" altLang="ko-KR" sz="1800" b="1" i="0" u="none" strike="noStrike" cap="none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lvl="0">
              <a:lnSpc>
                <a:spcPct val="150000"/>
              </a:lnSpc>
              <a:buClr>
                <a:srgbClr val="0070C0"/>
              </a:buClr>
              <a:buSzPts val="1800"/>
            </a:pP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1. CNN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시 오버피팅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발생 </a:t>
            </a: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/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수 부족으로 성능 저하</a:t>
            </a:r>
          </a:p>
          <a:p>
            <a:pPr lvl="0">
              <a:lnSpc>
                <a:spcPct val="150000"/>
              </a:lnSpc>
              <a:buClr>
                <a:srgbClr val="0070C0"/>
              </a:buClr>
              <a:buSzPts val="1800"/>
            </a:pP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→ 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Data Augmentation(Photometric, Geometric)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적용으로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해결</a:t>
            </a:r>
            <a:endParaRPr lang="en-US" altLang="ko-KR" sz="1800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lvl="0">
              <a:lnSpc>
                <a:spcPct val="150000"/>
              </a:lnSpc>
              <a:buClr>
                <a:srgbClr val="0070C0"/>
              </a:buClr>
              <a:buSzPts val="1800"/>
            </a:pPr>
            <a:endParaRPr lang="ko-KR" altLang="en-US" sz="180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lvl="0">
              <a:lnSpc>
                <a:spcPct val="150000"/>
              </a:lnSpc>
              <a:buClr>
                <a:srgbClr val="0070C0"/>
              </a:buClr>
              <a:buSzPts val="1800"/>
            </a:pP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2.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차량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구동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불안정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</a:t>
            </a: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/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센서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모터 오동작 발생</a:t>
            </a:r>
          </a:p>
          <a:p>
            <a:pPr lvl="0">
              <a:lnSpc>
                <a:spcPct val="150000"/>
              </a:lnSpc>
              <a:buClr>
                <a:srgbClr val="0070C0"/>
              </a:buClr>
              <a:buSzPts val="1800"/>
            </a:pP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→ 부품 분해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재조립 및 하드웨어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점검으로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해결</a:t>
            </a:r>
            <a:endParaRPr lang="en-US" altLang="ko-KR" sz="1800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lvl="0">
              <a:lnSpc>
                <a:spcPct val="150000"/>
              </a:lnSpc>
              <a:buClr>
                <a:srgbClr val="0070C0"/>
              </a:buClr>
              <a:buSzPts val="1800"/>
            </a:pPr>
            <a:endParaRPr lang="ko-KR" altLang="en-US" sz="180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lvl="0">
              <a:lnSpc>
                <a:spcPct val="150000"/>
              </a:lnSpc>
              <a:buClr>
                <a:srgbClr val="0070C0"/>
              </a:buClr>
              <a:buSzPts val="1800"/>
            </a:pP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3.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입력값에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따른 예측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불가능한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동작 </a:t>
            </a: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/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동일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조건에서도 다른 결과 발생</a:t>
            </a:r>
          </a:p>
          <a:p>
            <a:pPr lvl="0">
              <a:lnSpc>
                <a:spcPct val="150000"/>
              </a:lnSpc>
              <a:buClr>
                <a:srgbClr val="0070C0"/>
              </a:buClr>
              <a:buSzPts val="1800"/>
            </a:pP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→ 반복 실험을 통한 입력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–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출력 관계 분석</a:t>
            </a:r>
          </a:p>
          <a:p>
            <a:pPr lvl="0">
              <a:lnSpc>
                <a:spcPct val="150000"/>
              </a:lnSpc>
              <a:buClr>
                <a:srgbClr val="0070C0"/>
              </a:buClr>
              <a:buSzPts val="1800"/>
            </a:pP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→ 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PiCar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플랫폼 이해도 향상 및 제어 로직 개선</a:t>
            </a:r>
          </a:p>
          <a:p>
            <a:pPr marL="285750" lvl="0" indent="-285750">
              <a:lnSpc>
                <a:spcPct val="150000"/>
              </a:lnSpc>
              <a:buClr>
                <a:srgbClr val="0070C0"/>
              </a:buClr>
              <a:buSzPts val="1800"/>
              <a:buFont typeface="Wingdings" panose="05000000000000000000" pitchFamily="2" charset="2"/>
              <a:buChar char="u"/>
            </a:pPr>
            <a:endParaRPr lang="ko-KR" altLang="en-US" sz="180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</a:pPr>
            <a:endParaRPr sz="1800" b="0" i="0" u="none" strike="noStrike" cap="none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8662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>
            <a:spLocks noGrp="1"/>
          </p:cNvSpPr>
          <p:nvPr>
            <p:ph type="title"/>
          </p:nvPr>
        </p:nvSpPr>
        <p:spPr>
          <a:xfrm>
            <a:off x="322811" y="207186"/>
            <a:ext cx="10515600" cy="40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None/>
            </a:pPr>
            <a:r>
              <a:rPr lang="ko-KR" sz="2000" b="1">
                <a:latin typeface="Noto Sans"/>
                <a:ea typeface="Noto Sans"/>
                <a:cs typeface="Noto Sans"/>
                <a:sym typeface="Noto Sans"/>
              </a:rPr>
              <a:t>3. 프로젝트 수행결과</a:t>
            </a:r>
            <a:endParaRPr sz="20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322811" y="738859"/>
            <a:ext cx="11440102" cy="5493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150000"/>
              </a:lnSpc>
              <a:buClr>
                <a:srgbClr val="0070C0"/>
              </a:buClr>
              <a:buSzPts val="1800"/>
              <a:buFont typeface="Noto Sans KR"/>
              <a:buChar char="-"/>
            </a:pPr>
            <a:r>
              <a:rPr lang="ko-KR" sz="1800" b="1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주요기능(S/W, H/W</a:t>
            </a:r>
            <a:r>
              <a:rPr lang="en-US" altLang="ko-KR" sz="1800" b="1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lang="en-US" altLang="ko-KR" sz="1800" b="1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285750" lvl="0" indent="-285750">
              <a:lnSpc>
                <a:spcPct val="150000"/>
              </a:lnSpc>
              <a:buClr>
                <a:srgbClr val="0070C0"/>
              </a:buClr>
              <a:buSzPts val="1800"/>
              <a:buFont typeface="Arial" panose="020B0604020202020204" pitchFamily="34" charset="0"/>
              <a:buChar char="•"/>
            </a:pPr>
            <a:r>
              <a:rPr lang="en-US" altLang="ko-KR" sz="1800" u="sng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S/W </a:t>
            </a:r>
            <a:r>
              <a:rPr lang="en-US" altLang="ko-KR" sz="1800" u="sng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altLang="ko-KR" sz="1800" u="sng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Software)</a:t>
            </a:r>
          </a:p>
          <a:p>
            <a:pPr marL="342900" lvl="0" indent="-342900">
              <a:lnSpc>
                <a:spcPct val="150000"/>
              </a:lnSpc>
              <a:buClr>
                <a:srgbClr val="0070C0"/>
              </a:buClr>
              <a:buSzPts val="1800"/>
              <a:buFont typeface="+mj-lt"/>
              <a:buAutoNum type="arabicPeriod"/>
            </a:pP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CNN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기반 주행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상황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인지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Wingdings" panose="05000000000000000000" pitchFamily="2" charset="2"/>
              </a:rPr>
              <a:t>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 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/ Spacing / Overtake / Leader 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Change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분류</a:t>
            </a:r>
            <a:endParaRPr lang="en-US" altLang="ko-KR" sz="1800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342900" lvl="4" indent="-342900">
              <a:lnSpc>
                <a:spcPct val="150000"/>
              </a:lnSpc>
              <a:buClr>
                <a:srgbClr val="0070C0"/>
              </a:buClr>
              <a:buSzPts val="1800"/>
              <a:buFont typeface="+mj-lt"/>
              <a:buAutoNum type="arabicPeriod"/>
            </a:pP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Lane 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Detection &amp; 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Lane </a:t>
            </a: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Following </a:t>
            </a: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Wingdings" panose="05000000000000000000" pitchFamily="2" charset="2"/>
              </a:rPr>
              <a:t>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차선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인식 기반 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PID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조향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제어</a:t>
            </a:r>
            <a:endParaRPr lang="en-US" altLang="ko-KR" sz="1800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342900" lvl="4" indent="-342900">
              <a:lnSpc>
                <a:spcPct val="150000"/>
              </a:lnSpc>
              <a:buClr>
                <a:srgbClr val="0070C0"/>
              </a:buClr>
              <a:buSzPts val="1800"/>
              <a:buFont typeface="+mj-lt"/>
              <a:buAutoNum type="arabicPeriod"/>
            </a:pP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ACC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기반 차간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거리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유지</a:t>
            </a:r>
            <a:endParaRPr lang="en-US" altLang="ko-KR" sz="1800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342900" lvl="4" indent="-342900">
              <a:lnSpc>
                <a:spcPct val="150000"/>
              </a:lnSpc>
              <a:buClr>
                <a:srgbClr val="0070C0"/>
              </a:buClr>
              <a:buSzPts val="1800"/>
              <a:buFont typeface="+mj-lt"/>
              <a:buAutoNum type="arabicPeriod"/>
            </a:pP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Platooning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제어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로직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Wingdings" panose="05000000000000000000" pitchFamily="2" charset="2"/>
              </a:rPr>
              <a:t>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리더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명령 브로드캐스트 및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팔로워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동기화</a:t>
            </a:r>
            <a:endParaRPr lang="en-US" altLang="ko-KR" sz="1800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342900" lvl="4" indent="-342900">
              <a:lnSpc>
                <a:spcPct val="150000"/>
              </a:lnSpc>
              <a:buClr>
                <a:srgbClr val="0070C0"/>
              </a:buClr>
              <a:buSzPts val="1800"/>
              <a:buFont typeface="+mj-lt"/>
              <a:buAutoNum type="arabicPeriod"/>
            </a:pP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5G 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V2V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통신 기반 실시간 주행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모드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전송</a:t>
            </a:r>
            <a:endParaRPr lang="en-US" altLang="ko-KR" sz="180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342900" lvl="4" indent="-342900">
              <a:lnSpc>
                <a:spcPct val="150000"/>
              </a:lnSpc>
              <a:buClr>
                <a:srgbClr val="0070C0"/>
              </a:buClr>
              <a:buSzPts val="1800"/>
              <a:buFont typeface="+mj-lt"/>
              <a:buAutoNum type="arabicPeriod"/>
            </a:pPr>
            <a:endParaRPr lang="en-US" altLang="ko-KR" sz="180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285750" lvl="4" indent="-285750">
              <a:lnSpc>
                <a:spcPct val="150000"/>
              </a:lnSpc>
              <a:buClr>
                <a:srgbClr val="0070C0"/>
              </a:buClr>
              <a:buSzPts val="1800"/>
              <a:buFont typeface="Arial" panose="020B0604020202020204" pitchFamily="34" charset="0"/>
              <a:buChar char="•"/>
            </a:pPr>
            <a:r>
              <a:rPr lang="en-US" altLang="ko-KR" sz="1800" u="sng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H/W </a:t>
            </a:r>
            <a:r>
              <a:rPr lang="en-US" altLang="ko-KR" sz="1800" u="sng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altLang="ko-KR" sz="1800" u="sng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Hardware</a:t>
            </a:r>
            <a:r>
              <a:rPr lang="en-US" altLang="ko-KR" sz="1800" u="sng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</a:p>
          <a:p>
            <a:pPr marL="342900" lvl="4" indent="-342900">
              <a:lnSpc>
                <a:spcPct val="150000"/>
              </a:lnSpc>
              <a:buClr>
                <a:srgbClr val="0070C0"/>
              </a:buClr>
              <a:buSzPts val="1800"/>
              <a:buAutoNum type="arabicPeriod"/>
            </a:pP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Raspberry 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Pi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기반 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PiCar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플랫폼</a:t>
            </a:r>
            <a:endParaRPr lang="en-US" altLang="ko-KR" sz="1800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342900" lvl="4" indent="-342900">
              <a:lnSpc>
                <a:spcPct val="150000"/>
              </a:lnSpc>
              <a:buClr>
                <a:srgbClr val="0070C0"/>
              </a:buClr>
              <a:buSzPts val="1800"/>
              <a:buAutoNum type="arabicPeriod"/>
            </a:pP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카메라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초음파 센서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모터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드라이버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탑재</a:t>
            </a:r>
            <a:endParaRPr lang="en-US" altLang="ko-KR" sz="1800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342900" lvl="4" indent="-342900">
              <a:lnSpc>
                <a:spcPct val="150000"/>
              </a:lnSpc>
              <a:buClr>
                <a:srgbClr val="0070C0"/>
              </a:buClr>
              <a:buSzPts val="1800"/>
              <a:buAutoNum type="arabicPeriod"/>
            </a:pP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Leader 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/ Follower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차량 </a:t>
            </a:r>
            <a:r>
              <a:rPr lang="ko-KR" altLang="en-US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구성</a:t>
            </a:r>
            <a:endParaRPr lang="en-US" altLang="ko-KR" sz="1800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342900" lvl="4" indent="-342900">
              <a:lnSpc>
                <a:spcPct val="150000"/>
              </a:lnSpc>
              <a:buClr>
                <a:srgbClr val="0070C0"/>
              </a:buClr>
              <a:buSzPts val="1800"/>
              <a:buAutoNum type="arabicPeriod"/>
            </a:pP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5G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특화망 통신 장비 활용</a:t>
            </a:r>
            <a:endParaRPr lang="en-US" altLang="ko-KR" sz="1800" b="0" i="0" u="none" strike="noStrike" cap="none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>
            <a:spLocks noGrp="1"/>
          </p:cNvSpPr>
          <p:nvPr>
            <p:ph type="title"/>
          </p:nvPr>
        </p:nvSpPr>
        <p:spPr>
          <a:xfrm>
            <a:off x="322811" y="207186"/>
            <a:ext cx="10515600" cy="40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None/>
            </a:pPr>
            <a:r>
              <a:rPr lang="ko-KR" sz="2000" b="1">
                <a:latin typeface="Noto Sans"/>
                <a:ea typeface="Noto Sans"/>
                <a:cs typeface="Noto Sans"/>
                <a:sym typeface="Noto Sans"/>
              </a:rPr>
              <a:t>3. 프로젝트 수행결과</a:t>
            </a:r>
            <a:endParaRPr sz="20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322811" y="853159"/>
            <a:ext cx="11440102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KR"/>
              <a:buChar char="-"/>
            </a:pPr>
            <a:r>
              <a:rPr lang="ko-KR" sz="1800" b="0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결과물 </a:t>
            </a:r>
            <a:r>
              <a:rPr lang="ko-KR" sz="1800" b="0" i="0" u="none" strike="noStrike" cap="none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상세 </a:t>
            </a:r>
            <a:r>
              <a:rPr lang="ko-KR" sz="1800" b="0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이미</a:t>
            </a:r>
            <a:r>
              <a:rPr lang="ko-KR" altLang="en-US" sz="1800" b="0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지 </a:t>
            </a:r>
            <a:endParaRPr lang="en-US" altLang="ko-KR" sz="1800" b="0" i="0" u="none" strike="noStrike" cap="none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" name="Pictur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87250" y="1537375"/>
            <a:ext cx="1703311" cy="1462910"/>
          </a:xfrm>
          <a:prstGeom prst="rect">
            <a:avLst/>
          </a:prstGeom>
          <a:noFill/>
          <a:ln w="0" cap="flat">
            <a:solidFill>
              <a:srgbClr val="000000">
                <a:alpha val="0"/>
              </a:srgbClr>
            </a:solidFill>
            <a:prstDash val="solid"/>
            <a:miter/>
          </a:ln>
          <a:effectLst/>
        </p:spPr>
      </p:pic>
      <p:pic>
        <p:nvPicPr>
          <p:cNvPr id="5" name="Pictur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735381" y="1537375"/>
            <a:ext cx="1601981" cy="1469594"/>
          </a:xfrm>
          <a:prstGeom prst="rect">
            <a:avLst/>
          </a:prstGeom>
          <a:noFill/>
          <a:ln w="0" cap="flat">
            <a:solidFill>
              <a:srgbClr val="000000">
                <a:alpha val="0"/>
              </a:srgbClr>
            </a:solidFill>
            <a:prstDash val="solid"/>
            <a:miter/>
          </a:ln>
          <a:effectLst/>
        </p:spPr>
      </p:pic>
      <p:pic>
        <p:nvPicPr>
          <p:cNvPr id="6" name="Picture 2"/>
          <p:cNvPicPr>
            <a:picLocks noChangeAspect="1"/>
          </p:cNvPicPr>
          <p:nvPr/>
        </p:nvPicPr>
        <p:blipFill>
          <a:blip r:embed="rId5">
            <a:extLst/>
          </a:blip>
          <a:srcRect l="10224" r="12407"/>
          <a:stretch>
            <a:fillRect/>
          </a:stretch>
        </p:blipFill>
        <p:spPr>
          <a:xfrm rot="5400000">
            <a:off x="1118164" y="1459003"/>
            <a:ext cx="1462910" cy="1633021"/>
          </a:xfrm>
          <a:prstGeom prst="rect">
            <a:avLst/>
          </a:prstGeom>
          <a:noFill/>
          <a:ln w="0" cap="flat">
            <a:solidFill>
              <a:srgbClr val="000000">
                <a:alpha val="0"/>
              </a:srgbClr>
            </a:solidFill>
            <a:prstDash val="solid"/>
            <a:miter/>
          </a:ln>
          <a:effectLst/>
        </p:spPr>
      </p:pic>
      <p:pic>
        <p:nvPicPr>
          <p:cNvPr id="7" name="Pictur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795744" y="1227477"/>
            <a:ext cx="4291352" cy="194778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832650" y="3267870"/>
            <a:ext cx="3515711" cy="27520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768390" y="3549582"/>
            <a:ext cx="3205729" cy="2188618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0" name="Picture 11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136454" y="3351689"/>
            <a:ext cx="3284249" cy="2655282"/>
          </a:xfrm>
          <a:prstGeom prst="rect">
            <a:avLst/>
          </a:prstGeom>
          <a:noFill/>
          <a:ln w="5334" cap="rnd">
            <a:solidFill>
              <a:srgbClr val="000000"/>
            </a:solidFill>
            <a:prstDash val="solid"/>
            <a:miter/>
          </a:ln>
          <a:effectLst/>
        </p:spPr>
      </p:pic>
    </p:spTree>
    <p:extLst>
      <p:ext uri="{BB962C8B-B14F-4D97-AF65-F5344CB8AC3E}">
        <p14:creationId xmlns:p14="http://schemas.microsoft.com/office/powerpoint/2010/main" val="2108454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>
            <a:spLocks noGrp="1"/>
          </p:cNvSpPr>
          <p:nvPr>
            <p:ph type="title"/>
          </p:nvPr>
        </p:nvSpPr>
        <p:spPr>
          <a:xfrm>
            <a:off x="322811" y="207186"/>
            <a:ext cx="10515600" cy="40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None/>
            </a:pPr>
            <a:r>
              <a:rPr lang="ko-KR" sz="2000" b="1">
                <a:latin typeface="Noto Sans"/>
                <a:ea typeface="Noto Sans"/>
                <a:cs typeface="Noto Sans"/>
                <a:sym typeface="Noto Sans"/>
              </a:rPr>
              <a:t>3. 프로젝트 수행결과</a:t>
            </a:r>
            <a:endParaRPr sz="20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322811" y="853159"/>
            <a:ext cx="11440102" cy="300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KR"/>
              <a:buChar char="-"/>
            </a:pPr>
            <a:r>
              <a:rPr lang="ko-KR" sz="1800" b="0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작동 동영상 URL </a:t>
            </a:r>
            <a:endParaRPr lang="en-US" altLang="ko-KR" sz="1800" b="0" i="0" u="none" strike="noStrike" cap="none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285750" lvl="0" indent="-285750">
              <a:lnSpc>
                <a:spcPct val="150000"/>
              </a:lnSpc>
              <a:buClr>
                <a:srgbClr val="0070C0"/>
              </a:buClr>
              <a:buSzPts val="1800"/>
              <a:buFont typeface="Wingdings" panose="05000000000000000000" pitchFamily="2" charset="2"/>
              <a:buChar char="à"/>
            </a:pPr>
            <a:r>
              <a:rPr lang="en-US" altLang="ko-KR" sz="1800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https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://naver.me/GNRNjUMH</a:t>
            </a:r>
            <a:r>
              <a:rPr lang="ko-KR" sz="1800" b="0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br>
              <a:rPr lang="ko-KR" sz="1800" b="0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endParaRPr lang="en-US" altLang="ko-KR" sz="1800" b="0" i="0" u="none" strike="noStrike" cap="none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285750" lvl="0" indent="-285750">
              <a:lnSpc>
                <a:spcPct val="150000"/>
              </a:lnSpc>
              <a:buClr>
                <a:srgbClr val="0070C0"/>
              </a:buClr>
              <a:buSzPts val="1800"/>
              <a:buFont typeface="Wingdings" panose="05000000000000000000" pitchFamily="2" charset="2"/>
              <a:buChar char="à"/>
            </a:pPr>
            <a:endParaRPr lang="en-US" altLang="ko-KR" sz="180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285750" lvl="0" indent="-285750">
              <a:lnSpc>
                <a:spcPct val="150000"/>
              </a:lnSpc>
              <a:buClr>
                <a:srgbClr val="0070C0"/>
              </a:buClr>
              <a:buSzPts val="1800"/>
              <a:buFont typeface="Wingdings" panose="05000000000000000000" pitchFamily="2" charset="2"/>
              <a:buChar char="à"/>
            </a:pPr>
            <a:endParaRPr lang="en-US" altLang="ko-KR" sz="1800" b="0" i="0" u="none" strike="noStrike" cap="none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285750" lvl="0" indent="-285750">
              <a:lnSpc>
                <a:spcPct val="150000"/>
              </a:lnSpc>
              <a:buClr>
                <a:srgbClr val="0070C0"/>
              </a:buClr>
              <a:buSzPts val="1800"/>
              <a:buFontTx/>
              <a:buChar char="-"/>
            </a:pPr>
            <a:r>
              <a:rPr lang="ko-KR" sz="1800" b="0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성과(공모전, 논문 게재, APP 등록, 기술이전, 특허 출원 등</a:t>
            </a:r>
            <a:endParaRPr lang="en-US" altLang="ko-KR">
              <a:ea typeface="Noto Sans KR"/>
            </a:endParaRPr>
          </a:p>
          <a:p>
            <a:pPr lvl="0">
              <a:lnSpc>
                <a:spcPct val="150000"/>
              </a:lnSpc>
              <a:buClr>
                <a:srgbClr val="0070C0"/>
              </a:buClr>
              <a:buSzPts val="1800"/>
            </a:pPr>
            <a:r>
              <a:rPr lang="en-US" altLang="ko-KR" sz="1800" b="0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555321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>
            <a:spLocks noGrp="1"/>
          </p:cNvSpPr>
          <p:nvPr>
            <p:ph type="title"/>
          </p:nvPr>
        </p:nvSpPr>
        <p:spPr>
          <a:xfrm>
            <a:off x="322811" y="207186"/>
            <a:ext cx="10515600" cy="40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None/>
            </a:pPr>
            <a:r>
              <a:rPr lang="ko-KR" sz="2000" b="1">
                <a:latin typeface="Noto Sans"/>
                <a:ea typeface="Noto Sans"/>
                <a:cs typeface="Noto Sans"/>
                <a:sym typeface="Noto Sans"/>
              </a:rPr>
              <a:t>4. 예상효과</a:t>
            </a:r>
            <a:endParaRPr sz="20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322811" y="765236"/>
            <a:ext cx="11133566" cy="590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sz="1800" b="1" i="0" u="none" strike="noStrike" cap="none" smtClean="0">
                <a:solidFill>
                  <a:schemeClr val="accent1">
                    <a:lumMod val="75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기대효과 </a:t>
            </a:r>
            <a:r>
              <a:rPr lang="ko-KR" sz="1800" b="1" i="0" u="none" strike="noStrike" cap="none">
                <a:solidFill>
                  <a:schemeClr val="accent1">
                    <a:lumMod val="75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: 기존 제품/서비스와의 차별점 </a:t>
            </a:r>
            <a:r>
              <a:rPr lang="ko-KR" sz="1800" b="1" i="0" u="none" strike="noStrike" cap="none" smtClean="0">
                <a:solidFill>
                  <a:schemeClr val="accent1">
                    <a:lumMod val="75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등</a:t>
            </a:r>
            <a:endParaRPr lang="en-US" altLang="ko-KR" sz="1800" b="0" i="0" u="none" strike="noStrike" cap="none" smtClean="0">
              <a:solidFill>
                <a:schemeClr val="accent1">
                  <a:lumMod val="75000"/>
                </a:schemeClr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800">
                <a:solidFill>
                  <a:schemeClr val="accent1">
                    <a:lumMod val="75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단순 규칙 기반 제어가 아닌 </a:t>
            </a:r>
            <a:r>
              <a:rPr lang="en-US" altLang="ko-KR" sz="1800">
                <a:solidFill>
                  <a:schemeClr val="accent1">
                    <a:lumMod val="75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CNN </a:t>
            </a:r>
            <a:r>
              <a:rPr lang="ko-KR" altLang="en-US" sz="1800">
                <a:solidFill>
                  <a:schemeClr val="accent1">
                    <a:lumMod val="75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기반 상황 인지로 다양한 주행 환경 대응 가능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800">
                <a:solidFill>
                  <a:schemeClr val="accent1">
                    <a:lumMod val="75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Leader–Follower </a:t>
            </a:r>
            <a:r>
              <a:rPr lang="ko-KR" altLang="en-US" sz="1800">
                <a:solidFill>
                  <a:schemeClr val="accent1">
                    <a:lumMod val="75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구조를 통한 협력 주행</a:t>
            </a:r>
            <a:r>
              <a:rPr lang="en-US" altLang="ko-KR" sz="1800">
                <a:solidFill>
                  <a:schemeClr val="accent1">
                    <a:lumMod val="75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(Platooning) </a:t>
            </a:r>
            <a:r>
              <a:rPr lang="ko-KR" altLang="en-US" sz="1800">
                <a:solidFill>
                  <a:schemeClr val="accent1">
                    <a:lumMod val="75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구현으로 주행 안정성 향상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800" smtClean="0">
                <a:solidFill>
                  <a:schemeClr val="accent1">
                    <a:lumMod val="75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5G </a:t>
            </a:r>
            <a:r>
              <a:rPr lang="en-US" altLang="ko-KR" sz="1800">
                <a:solidFill>
                  <a:schemeClr val="accent1">
                    <a:lumMod val="75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V2V </a:t>
            </a:r>
            <a:r>
              <a:rPr lang="ko-KR" altLang="en-US" sz="1800">
                <a:solidFill>
                  <a:schemeClr val="accent1">
                    <a:lumMod val="75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통신 기반 실시간 동기화로 지연 없는 주행 모드 전환 가능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800">
                <a:solidFill>
                  <a:schemeClr val="accent1">
                    <a:lumMod val="75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자동 </a:t>
            </a:r>
            <a:r>
              <a:rPr lang="en-US" altLang="ko-KR" sz="1800">
                <a:solidFill>
                  <a:schemeClr val="accent1">
                    <a:lumMod val="75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Leader Change </a:t>
            </a:r>
            <a:r>
              <a:rPr lang="ko-KR" altLang="en-US" sz="1800">
                <a:solidFill>
                  <a:schemeClr val="accent1">
                    <a:lumMod val="75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기능으로 시스템 신뢰성 및 지속 운행성 확보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800">
                <a:solidFill>
                  <a:schemeClr val="accent1">
                    <a:lumMod val="75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소형 플랫폼 기반으로 저비용</a:t>
            </a:r>
            <a:r>
              <a:rPr lang="en-US" altLang="ko-KR" sz="1800">
                <a:solidFill>
                  <a:schemeClr val="accent1">
                    <a:lumMod val="75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800">
                <a:solidFill>
                  <a:schemeClr val="accent1">
                    <a:lumMod val="75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확장 가능한 군집주행 실험 </a:t>
            </a:r>
            <a:r>
              <a:rPr lang="ko-KR" altLang="en-US" sz="1800">
                <a:solidFill>
                  <a:schemeClr val="accent1">
                    <a:lumMod val="75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환경 </a:t>
            </a:r>
            <a:r>
              <a:rPr lang="ko-KR" altLang="en-US" sz="1800" smtClean="0">
                <a:solidFill>
                  <a:schemeClr val="accent1">
                    <a:lumMod val="75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제공</a:t>
            </a:r>
            <a:endParaRPr lang="en-US" altLang="ko-KR" sz="1800" smtClean="0">
              <a:solidFill>
                <a:schemeClr val="accent1">
                  <a:lumMod val="75000"/>
                </a:schemeClr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lvl="0">
              <a:lnSpc>
                <a:spcPct val="150000"/>
              </a:lnSpc>
            </a:pPr>
            <a:endParaRPr sz="1800" b="0" i="0" u="none" strike="noStrike" cap="none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sz="1800" b="1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활용분야 </a:t>
            </a:r>
            <a:r>
              <a:rPr lang="ko-KR" sz="1800" b="1" i="0" u="none" strike="noStrike" cap="none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: 프로젝트 결과물 응용 분야, 활용 방안 </a:t>
            </a:r>
            <a:r>
              <a:rPr lang="ko-KR" sz="1800" b="1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등</a:t>
            </a:r>
            <a:endParaRPr lang="en-US" altLang="ko-KR" sz="1800" b="1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군집주행 자율차량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(Platooning Vehicle)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연구 및 실증 플랫폼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자율주행 배송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물류 로봇의 협력 이동 시스템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산업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물류 현장 이동 로봇의 다중 로봇 제어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재난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위험 지역 무인 이동 시스템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자율주행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·V2V·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딥러닝 교육을 위한 연구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교육용 테스트베드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 sz="1800" b="0" i="0" u="none" strike="noStrike" cap="none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>
            <a:spLocks noGrp="1"/>
          </p:cNvSpPr>
          <p:nvPr>
            <p:ph type="title"/>
          </p:nvPr>
        </p:nvSpPr>
        <p:spPr>
          <a:xfrm>
            <a:off x="322811" y="207186"/>
            <a:ext cx="10515600" cy="40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"/>
              <a:buNone/>
            </a:pPr>
            <a:r>
              <a:rPr lang="ko-KR" sz="2200" b="1">
                <a:latin typeface="Noto Sans"/>
                <a:ea typeface="Noto Sans"/>
                <a:cs typeface="Noto Sans"/>
                <a:sym typeface="Noto Sans"/>
              </a:rPr>
              <a:t>5. 그 외</a:t>
            </a:r>
            <a:r>
              <a:rPr lang="ko-KR" sz="3100" b="1"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ko-KR" sz="1800" b="1">
                <a:solidFill>
                  <a:srgbClr val="7F7F7F"/>
                </a:solidFill>
                <a:latin typeface="Noto Sans"/>
                <a:ea typeface="Noto Sans"/>
                <a:cs typeface="Noto Sans"/>
                <a:sym typeface="Noto Sans"/>
              </a:rPr>
              <a:t>* 선택사항</a:t>
            </a:r>
            <a:endParaRPr sz="18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322811" y="853159"/>
            <a:ext cx="11440102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KR"/>
              <a:buChar char="-"/>
            </a:pPr>
            <a:r>
              <a:rPr lang="ko-KR" sz="1800" b="1" i="0" u="none" strike="noStrike" cap="none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프로젝트를 통해 배운 점(기술, 지식 등) 등 추가 내용을 자유롭게 </a:t>
            </a:r>
            <a:r>
              <a:rPr lang="ko-KR" sz="1800" b="1" i="0" u="none" strike="noStrike" cap="none" smtClean="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작성</a:t>
            </a:r>
            <a:endParaRPr lang="en-US" altLang="ko-KR" sz="1800" b="1" i="0" u="none" strike="noStrike" cap="none" smtClean="0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KR"/>
              <a:buChar char="-"/>
            </a:pPr>
            <a:endParaRPr lang="en-US" altLang="ko-KR" sz="1800" b="1" i="1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342900" lvl="0" indent="-342900">
              <a:lnSpc>
                <a:spcPct val="150000"/>
              </a:lnSpc>
              <a:buClr>
                <a:srgbClr val="0070C0"/>
              </a:buClr>
              <a:buSzPts val="1800"/>
              <a:buFont typeface="+mj-lt"/>
              <a:buAutoNum type="arabicPeriod"/>
            </a:pP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딥러닝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(CNN)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을 활용한 주행 상황 인지 모델의 학습 및 적용 과정을 이해함</a:t>
            </a:r>
          </a:p>
          <a:p>
            <a:pPr marL="342900" lvl="0" indent="-342900">
              <a:lnSpc>
                <a:spcPct val="150000"/>
              </a:lnSpc>
              <a:buClr>
                <a:srgbClr val="0070C0"/>
              </a:buClr>
              <a:buSzPts val="1800"/>
              <a:buFont typeface="+mj-lt"/>
              <a:buAutoNum type="arabicPeriod"/>
            </a:pP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수 부족 문제와 오버피팅 발생 원인 및 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Data Augmentation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을 통한 해결 방법을 학습함</a:t>
            </a:r>
          </a:p>
          <a:p>
            <a:pPr marL="342900" lvl="0" indent="-342900">
              <a:lnSpc>
                <a:spcPct val="150000"/>
              </a:lnSpc>
              <a:buClr>
                <a:srgbClr val="0070C0"/>
              </a:buClr>
              <a:buSzPts val="1800"/>
              <a:buFont typeface="+mj-lt"/>
              <a:buAutoNum type="arabicPeriod"/>
            </a:pP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Lane Detection, ACC, Platooning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등 자율주행 핵심 알고리즘의 실제 구현 경험을 쌓음</a:t>
            </a:r>
          </a:p>
          <a:p>
            <a:pPr marL="342900" lvl="0" indent="-342900">
              <a:lnSpc>
                <a:spcPct val="150000"/>
              </a:lnSpc>
              <a:buClr>
                <a:srgbClr val="0070C0"/>
              </a:buClr>
              <a:buSzPts val="1800"/>
              <a:buFont typeface="+mj-lt"/>
              <a:buAutoNum type="arabicPeriod"/>
            </a:pP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5G V2V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통신을 활용한 차량 간 실시간 정보 공유 및 동기화 구조를 이해함</a:t>
            </a:r>
          </a:p>
          <a:p>
            <a:pPr marL="342900" lvl="0" indent="-342900">
              <a:lnSpc>
                <a:spcPct val="150000"/>
              </a:lnSpc>
              <a:buClr>
                <a:srgbClr val="0070C0"/>
              </a:buClr>
              <a:buSzPts val="1800"/>
              <a:buFont typeface="+mj-lt"/>
              <a:buAutoNum type="arabicPeriod"/>
            </a:pP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하드웨어 문제 발생 시 부품 단위 점검과 반복 실험의 중요성을 체감함</a:t>
            </a:r>
          </a:p>
          <a:p>
            <a:pPr marL="342900" lvl="0" indent="-342900">
              <a:lnSpc>
                <a:spcPct val="150000"/>
              </a:lnSpc>
              <a:buClr>
                <a:srgbClr val="0070C0"/>
              </a:buClr>
              <a:buSzPts val="1800"/>
              <a:buFont typeface="+mj-lt"/>
              <a:buAutoNum type="arabicPeriod"/>
            </a:pP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팀원 간 코드 통합 과정에서 협업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의사소통</a:t>
            </a:r>
            <a:r>
              <a:rPr lang="en-US" altLang="ko-KR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일정 관리의 중요성을 경험함</a:t>
            </a:r>
          </a:p>
          <a:p>
            <a:pPr marL="342900" lvl="0" indent="-342900">
              <a:lnSpc>
                <a:spcPct val="150000"/>
              </a:lnSpc>
              <a:buClr>
                <a:srgbClr val="0070C0"/>
              </a:buClr>
              <a:buSzPts val="1800"/>
              <a:buFont typeface="+mj-lt"/>
              <a:buAutoNum type="arabicPeriod"/>
            </a:pPr>
            <a:r>
              <a:rPr lang="ko-KR" altLang="en-US" sz="1800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이론 중심 학습을 넘어 실제 동작하는 시스템을 완성하는 전반적인 개발 흐름을 이해함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KR"/>
              <a:buChar char="-"/>
            </a:pPr>
            <a:endParaRPr sz="1800" b="0" i="0" u="none" strike="noStrike" cap="none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>
            <a:spLocks noGrp="1"/>
          </p:cNvSpPr>
          <p:nvPr>
            <p:ph type="title"/>
          </p:nvPr>
        </p:nvSpPr>
        <p:spPr>
          <a:xfrm>
            <a:off x="322811" y="207186"/>
            <a:ext cx="10515600" cy="40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None/>
            </a:pPr>
            <a:r>
              <a:rPr lang="ko-KR" sz="2000" b="1">
                <a:latin typeface="Noto Sans"/>
                <a:ea typeface="Noto Sans"/>
                <a:cs typeface="Noto Sans"/>
                <a:sym typeface="Noto Sans"/>
              </a:rPr>
              <a:t>6. 참고자료</a:t>
            </a:r>
            <a:endParaRPr/>
          </a:p>
        </p:txBody>
      </p:sp>
      <p:sp>
        <p:nvSpPr>
          <p:cNvPr id="147" name="Google Shape;147;p7"/>
          <p:cNvSpPr txBox="1"/>
          <p:nvPr/>
        </p:nvSpPr>
        <p:spPr>
          <a:xfrm>
            <a:off x="322811" y="853159"/>
            <a:ext cx="11440102" cy="456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KR"/>
              <a:buChar char="-"/>
            </a:pPr>
            <a:r>
              <a:rPr lang="ko-KR" sz="1800" b="0" i="0" u="none" strike="noStrike" cap="none">
                <a:solidFill>
                  <a:srgbClr val="0070C0"/>
                </a:solidFill>
                <a:latin typeface="Noto Sans KR"/>
                <a:ea typeface="Noto Sans KR"/>
                <a:cs typeface="Noto Sans KR"/>
                <a:sym typeface="Noto Sans KR"/>
              </a:rPr>
              <a:t>참고자료(서적, 연구보고서, 신문기사 등)</a:t>
            </a:r>
            <a:endParaRPr sz="1800" b="0" i="1" u="none" strike="noStrike" cap="none">
              <a:solidFill>
                <a:srgbClr val="0070C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834</Words>
  <Application>Microsoft Office PowerPoint</Application>
  <PresentationFormat>와이드스크린</PresentationFormat>
  <Paragraphs>112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Noto Sans KR</vt:lpstr>
      <vt:lpstr>Noto Sans</vt:lpstr>
      <vt:lpstr>Arial</vt:lpstr>
      <vt:lpstr>Noto Sans Medium</vt:lpstr>
      <vt:lpstr>Malgun Gothic</vt:lpstr>
      <vt:lpstr>Wingdings</vt:lpstr>
      <vt:lpstr>Office 테마</vt:lpstr>
      <vt:lpstr>WE-Meet 프로젝트 결과보고서</vt:lpstr>
      <vt:lpstr>1. 프로젝트 개요</vt:lpstr>
      <vt:lpstr>1. 프로젝트 개요</vt:lpstr>
      <vt:lpstr>2. 프로젝트 수행과정</vt:lpstr>
      <vt:lpstr>2. 프로젝트 수행과정</vt:lpstr>
      <vt:lpstr>2. 프로젝트 수행과정</vt:lpstr>
      <vt:lpstr>3. 프로젝트 수행결과</vt:lpstr>
      <vt:lpstr>3. 프로젝트 수행결과</vt:lpstr>
      <vt:lpstr>3. 프로젝트 수행결과</vt:lpstr>
      <vt:lpstr>4. 예상효과</vt:lpstr>
      <vt:lpstr>5. 그 외 * 선택사항</vt:lpstr>
      <vt:lpstr>6. 참고자료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WE-Meet 프로젝트 결과보고서</dc:title>
  <dc:creator/>
  <cp:lastModifiedBy/>
  <cp:revision>8</cp:revision>
  <dcterms:created xsi:type="dcterms:W3CDTF">2023-04-13T04:10:13Z</dcterms:created>
  <dcterms:modified xsi:type="dcterms:W3CDTF">2025-12-15T06:21:42Z</dcterms:modified>
</cp:coreProperties>
</file>