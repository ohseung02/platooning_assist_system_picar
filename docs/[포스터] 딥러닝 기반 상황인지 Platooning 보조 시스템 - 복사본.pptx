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1" r:id="rId2"/>
  </p:sldIdLst>
  <p:sldSz cx="21243925" cy="30243463"/>
  <p:notesSz cx="6640513" cy="99044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58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58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58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58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58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58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58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58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58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26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B248"/>
    <a:srgbClr val="9CBD5B"/>
    <a:srgbClr val="A6C36B"/>
    <a:srgbClr val="D7E4BD"/>
    <a:srgbClr val="BDE0CC"/>
    <a:srgbClr val="FFFFFF"/>
    <a:srgbClr val="B9C0CA"/>
    <a:srgbClr val="FFFF99"/>
    <a:srgbClr val="1156E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75" autoAdjust="0"/>
    <p:restoredTop sz="94940" autoAdjust="0"/>
  </p:normalViewPr>
  <p:slideViewPr>
    <p:cSldViewPr>
      <p:cViewPr varScale="1">
        <p:scale>
          <a:sx n="17" d="100"/>
          <a:sy n="17" d="100"/>
        </p:scale>
        <p:origin x="2688" y="67"/>
      </p:cViewPr>
      <p:guideLst>
        <p:guide orient="horz" pos="9526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8765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57" tIns="45578" rIns="91157" bIns="45578" numCol="1" anchor="t" anchorCtr="0" compatLnSpc="1">
            <a:prstTxWarp prst="textNoShape">
              <a:avLst/>
            </a:prstTxWarp>
          </a:bodyPr>
          <a:lstStyle>
            <a:lvl1pPr defTabSz="911225">
              <a:defRPr sz="1200" dirty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 bwMode="auto">
          <a:xfrm>
            <a:off x="3762375" y="0"/>
            <a:ext cx="28765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57" tIns="45578" rIns="91157" bIns="45578" numCol="1" anchor="t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0C6BA4B-9D1C-4629-B88A-DCD40A690922}" type="datetimeFigureOut">
              <a:rPr lang="ko-KR" altLang="en-US"/>
              <a:pPr>
                <a:defRPr/>
              </a:pPr>
              <a:t>2026-03-08</a:t>
            </a:fld>
            <a:endParaRPr lang="en-US" altLang="ko-KR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16125" y="742950"/>
            <a:ext cx="260985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63575" y="4705350"/>
            <a:ext cx="5313363" cy="445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57" tIns="45578" rIns="91157" bIns="455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 bwMode="auto">
          <a:xfrm>
            <a:off x="0" y="9407525"/>
            <a:ext cx="28765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57" tIns="45578" rIns="91157" bIns="45578" numCol="1" anchor="b" anchorCtr="0" compatLnSpc="1">
            <a:prstTxWarp prst="textNoShape">
              <a:avLst/>
            </a:prstTxWarp>
          </a:bodyPr>
          <a:lstStyle>
            <a:lvl1pPr defTabSz="911225">
              <a:defRPr sz="1200" dirty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 bwMode="auto">
          <a:xfrm>
            <a:off x="3762375" y="9407525"/>
            <a:ext cx="28765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57" tIns="45578" rIns="91157" bIns="45578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3C855A62-8F95-4E7B-AF90-B42BC88F891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52500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649F7-69D5-C0D8-950D-444FC1909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슬라이드 이미지 개체 틀 1">
            <a:extLst>
              <a:ext uri="{FF2B5EF4-FFF2-40B4-BE49-F238E27FC236}">
                <a16:creationId xmlns:a16="http://schemas.microsoft.com/office/drawing/2014/main" id="{CDC47D3A-E1A6-5040-5B04-A8B28CD571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016125" y="742950"/>
            <a:ext cx="2609850" cy="37147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슬라이드 노트 개체 틀 2">
            <a:extLst>
              <a:ext uri="{FF2B5EF4-FFF2-40B4-BE49-F238E27FC236}">
                <a16:creationId xmlns:a16="http://schemas.microsoft.com/office/drawing/2014/main" id="{7FDEDC59-D6DC-826C-2767-D25E6D3B6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5363" name="슬라이드 번호 개체 틀 3">
            <a:extLst>
              <a:ext uri="{FF2B5EF4-FFF2-40B4-BE49-F238E27FC236}">
                <a16:creationId xmlns:a16="http://schemas.microsoft.com/office/drawing/2014/main" id="{536375C3-D2AD-41D5-B5CD-CE2A1D728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ADAE5C-FD9E-4C7B-B45A-01622C469F7F}" type="slidenum">
              <a:rPr lang="ko-KR" altLang="en-US" smtClean="0">
                <a:latin typeface="굴림" charset="-127"/>
                <a:ea typeface="굴림" charset="-127"/>
              </a:rPr>
              <a:pPr/>
              <a:t>1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78946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88" y="2840570"/>
            <a:ext cx="5829735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78" y="5181601"/>
            <a:ext cx="4800958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BBAF1-EBF2-4373-B2FA-EC7CA0B0B19A}" type="datetimeFigureOut">
              <a:rPr lang="ko-KR" altLang="en-US"/>
              <a:pPr>
                <a:defRPr/>
              </a:pPr>
              <a:t>2026-03-08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D3827-D962-46FE-8985-AC89356DA0D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99F91-BA3E-4705-8755-A946DAB302B5}" type="datetimeFigureOut">
              <a:rPr lang="ko-KR" altLang="en-US"/>
              <a:pPr>
                <a:defRPr/>
              </a:pPr>
              <a:t>2026-03-08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E80B8-5DCE-407E-B2AA-E8B79E72EDD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76" y="5875868"/>
            <a:ext cx="5829735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76" y="3875622"/>
            <a:ext cx="5829735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6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2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4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1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9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70242-D5F7-468C-949D-4F08D5F27A16}" type="datetimeFigureOut">
              <a:rPr lang="ko-KR" altLang="en-US"/>
              <a:pPr>
                <a:defRPr/>
              </a:pPr>
              <a:t>2026-03-08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13825-50C3-48AD-A7AA-E9569707FC5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96" y="2844803"/>
            <a:ext cx="2257594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9098" y="2844803"/>
            <a:ext cx="2257594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441E2E-5F2F-4022-9428-C0869739CB18}" type="datetimeFigureOut">
              <a:rPr lang="ko-KR" altLang="en-US"/>
              <a:pPr>
                <a:defRPr/>
              </a:pPr>
              <a:t>2026-03-08</a:t>
            </a:fld>
            <a:endParaRPr lang="en-US" altLang="ko-KR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C6137-6783-4477-B505-DD2DB344604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25" y="366184"/>
            <a:ext cx="6172661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27" y="2046818"/>
            <a:ext cx="3030368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2" indent="0">
              <a:buNone/>
              <a:defRPr sz="2000" b="1"/>
            </a:lvl2pPr>
            <a:lvl3pPr marL="914324" indent="0">
              <a:buNone/>
              <a:defRPr sz="1800" b="1"/>
            </a:lvl3pPr>
            <a:lvl4pPr marL="1371486" indent="0">
              <a:buNone/>
              <a:defRPr sz="1600" b="1"/>
            </a:lvl4pPr>
            <a:lvl5pPr marL="1828648" indent="0">
              <a:buNone/>
              <a:defRPr sz="1600" b="1"/>
            </a:lvl5pPr>
            <a:lvl6pPr marL="2285810" indent="0">
              <a:buNone/>
              <a:defRPr sz="1600" b="1"/>
            </a:lvl6pPr>
            <a:lvl7pPr marL="2742972" indent="0">
              <a:buNone/>
              <a:defRPr sz="1600" b="1"/>
            </a:lvl7pPr>
            <a:lvl8pPr marL="3200134" indent="0">
              <a:buNone/>
              <a:defRPr sz="1600" b="1"/>
            </a:lvl8pPr>
            <a:lvl9pPr marL="365729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27" y="2899834"/>
            <a:ext cx="3030368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032" y="2046818"/>
            <a:ext cx="3031557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2" indent="0">
              <a:buNone/>
              <a:defRPr sz="2000" b="1"/>
            </a:lvl2pPr>
            <a:lvl3pPr marL="914324" indent="0">
              <a:buNone/>
              <a:defRPr sz="1800" b="1"/>
            </a:lvl3pPr>
            <a:lvl4pPr marL="1371486" indent="0">
              <a:buNone/>
              <a:defRPr sz="1600" b="1"/>
            </a:lvl4pPr>
            <a:lvl5pPr marL="1828648" indent="0">
              <a:buNone/>
              <a:defRPr sz="1600" b="1"/>
            </a:lvl5pPr>
            <a:lvl6pPr marL="2285810" indent="0">
              <a:buNone/>
              <a:defRPr sz="1600" b="1"/>
            </a:lvl6pPr>
            <a:lvl7pPr marL="2742972" indent="0">
              <a:buNone/>
              <a:defRPr sz="1600" b="1"/>
            </a:lvl7pPr>
            <a:lvl8pPr marL="3200134" indent="0">
              <a:buNone/>
              <a:defRPr sz="1600" b="1"/>
            </a:lvl8pPr>
            <a:lvl9pPr marL="3657296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032" y="2899834"/>
            <a:ext cx="3031557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D734F-4B93-4330-A67D-618684B04AE1}" type="datetimeFigureOut">
              <a:rPr lang="ko-KR" altLang="en-US"/>
              <a:pPr>
                <a:defRPr/>
              </a:pPr>
              <a:t>2026-03-08</a:t>
            </a:fld>
            <a:endParaRPr lang="en-US" altLang="ko-KR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6F58A-3987-4607-83FD-99B04D6B0B9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942541-A6BE-4363-8BBE-54F2A2DCAFFA}" type="datetimeFigureOut">
              <a:rPr lang="ko-KR" altLang="en-US"/>
              <a:pPr>
                <a:defRPr/>
              </a:pPr>
              <a:t>2026-03-08</a:t>
            </a:fld>
            <a:endParaRPr lang="en-US" altLang="ko-KR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82970C-8476-4BE8-90A6-7B001A60BD4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DF4D08-95C8-4B3C-A598-91AD46B5BD8E}" type="datetimeFigureOut">
              <a:rPr lang="ko-KR" altLang="en-US"/>
              <a:pPr>
                <a:defRPr/>
              </a:pPr>
              <a:t>2026-03-08</a:t>
            </a:fld>
            <a:endParaRPr lang="en-US" altLang="ko-KR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AE95A-3C4A-40D5-A564-4AE2B622093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27" y="364068"/>
            <a:ext cx="2256403" cy="154940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490" y="364070"/>
            <a:ext cx="3834100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27" y="1913469"/>
            <a:ext cx="2256403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162" indent="0">
              <a:buNone/>
              <a:defRPr sz="1200"/>
            </a:lvl2pPr>
            <a:lvl3pPr marL="914324" indent="0">
              <a:buNone/>
              <a:defRPr sz="1000"/>
            </a:lvl3pPr>
            <a:lvl4pPr marL="1371486" indent="0">
              <a:buNone/>
              <a:defRPr sz="900"/>
            </a:lvl4pPr>
            <a:lvl5pPr marL="1828648" indent="0">
              <a:buNone/>
              <a:defRPr sz="900"/>
            </a:lvl5pPr>
            <a:lvl6pPr marL="2285810" indent="0">
              <a:buNone/>
              <a:defRPr sz="900"/>
            </a:lvl6pPr>
            <a:lvl7pPr marL="2742972" indent="0">
              <a:buNone/>
              <a:defRPr sz="900"/>
            </a:lvl7pPr>
            <a:lvl8pPr marL="3200134" indent="0">
              <a:buNone/>
              <a:defRPr sz="900"/>
            </a:lvl8pPr>
            <a:lvl9pPr marL="3657296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1AB45-3E58-4B45-84B4-67A63B87ADBF}" type="datetimeFigureOut">
              <a:rPr lang="ko-KR" altLang="en-US"/>
              <a:pPr>
                <a:defRPr/>
              </a:pPr>
              <a:t>2026-03-08</a:t>
            </a:fld>
            <a:endParaRPr lang="en-US" altLang="ko-KR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107724-E2E8-465C-9248-E09D0C909E1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317" y="6400804"/>
            <a:ext cx="4115107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317" y="817033"/>
            <a:ext cx="4115107" cy="5486400"/>
          </a:xfrm>
        </p:spPr>
        <p:txBody>
          <a:bodyPr lIns="91440" tIns="45720" rIns="91440" bIns="45720" rtlCol="0">
            <a:normAutofit/>
          </a:bodyPr>
          <a:lstStyle>
            <a:lvl1pPr marL="0" indent="0">
              <a:buNone/>
              <a:defRPr sz="3200"/>
            </a:lvl1pPr>
            <a:lvl2pPr marL="457162" indent="0">
              <a:buNone/>
              <a:defRPr sz="2800"/>
            </a:lvl2pPr>
            <a:lvl3pPr marL="914324" indent="0">
              <a:buNone/>
              <a:defRPr sz="2400"/>
            </a:lvl3pPr>
            <a:lvl4pPr marL="1371486" indent="0">
              <a:buNone/>
              <a:defRPr sz="2000"/>
            </a:lvl4pPr>
            <a:lvl5pPr marL="1828648" indent="0">
              <a:buNone/>
              <a:defRPr sz="2000"/>
            </a:lvl5pPr>
            <a:lvl6pPr marL="2285810" indent="0">
              <a:buNone/>
              <a:defRPr sz="2000"/>
            </a:lvl6pPr>
            <a:lvl7pPr marL="2742972" indent="0">
              <a:buNone/>
              <a:defRPr sz="2000"/>
            </a:lvl7pPr>
            <a:lvl8pPr marL="3200134" indent="0">
              <a:buNone/>
              <a:defRPr sz="2000"/>
            </a:lvl8pPr>
            <a:lvl9pPr marL="3657296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317" y="7156453"/>
            <a:ext cx="4115107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162" indent="0">
              <a:buNone/>
              <a:defRPr sz="1200"/>
            </a:lvl2pPr>
            <a:lvl3pPr marL="914324" indent="0">
              <a:buNone/>
              <a:defRPr sz="1000"/>
            </a:lvl3pPr>
            <a:lvl4pPr marL="1371486" indent="0">
              <a:buNone/>
              <a:defRPr sz="900"/>
            </a:lvl4pPr>
            <a:lvl5pPr marL="1828648" indent="0">
              <a:buNone/>
              <a:defRPr sz="900"/>
            </a:lvl5pPr>
            <a:lvl6pPr marL="2285810" indent="0">
              <a:buNone/>
              <a:defRPr sz="900"/>
            </a:lvl6pPr>
            <a:lvl7pPr marL="2742972" indent="0">
              <a:buNone/>
              <a:defRPr sz="900"/>
            </a:lvl7pPr>
            <a:lvl8pPr marL="3200134" indent="0">
              <a:buNone/>
              <a:defRPr sz="900"/>
            </a:lvl8pPr>
            <a:lvl9pPr marL="3657296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7FEC15-DB2D-4068-8A2A-25EF4A2F296E}" type="datetimeFigureOut">
              <a:rPr lang="ko-KR" altLang="en-US"/>
              <a:pPr>
                <a:defRPr/>
              </a:pPr>
              <a:t>2026-03-08</a:t>
            </a:fld>
            <a:endParaRPr lang="en-US" altLang="ko-KR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CE69C-E747-4E09-84AE-F8E50D0346B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360D79-9BBD-45C4-AA04-6CBF427EC907}" type="datetimeFigureOut">
              <a:rPr lang="ko-KR" altLang="en-US"/>
              <a:pPr>
                <a:defRPr/>
              </a:pPr>
              <a:t>2026-03-08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3F49AE-077D-4721-A810-A74CD8CDFD5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316" y="488951"/>
            <a:ext cx="1157375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97" y="488951"/>
            <a:ext cx="3357814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A45949-B516-47AE-B442-04208EF7EB53}" type="datetimeFigureOut">
              <a:rPr lang="ko-KR" altLang="en-US"/>
              <a:pPr>
                <a:defRPr/>
              </a:pPr>
              <a:t>2026-03-08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D66CA-1460-4F24-AB8A-FBE5CA7D6FD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1062117" y="1212852"/>
            <a:ext cx="19119691" cy="504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94199" tIns="147100" rIns="294199" bIns="147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1062117" y="7056438"/>
            <a:ext cx="19119691" cy="1995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94199" tIns="147100" rIns="294199" bIns="147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 bwMode="auto">
          <a:xfrm>
            <a:off x="1062119" y="28033663"/>
            <a:ext cx="4956545" cy="160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94199" tIns="147100" rIns="294199" bIns="147100" numCol="1" anchor="ctr" anchorCtr="0" compatLnSpc="1">
            <a:prstTxWarp prst="textNoShape">
              <a:avLst/>
            </a:prstTxWarp>
          </a:bodyPr>
          <a:lstStyle>
            <a:lvl1pPr>
              <a:defRPr kumimoji="0" sz="3900">
                <a:solidFill>
                  <a:srgbClr val="898989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DFBCD57D-B3BD-40B3-9834-7F1E5BDBBC23}" type="datetimeFigureOut">
              <a:rPr lang="ko-KR" altLang="en-US"/>
              <a:pPr>
                <a:defRPr/>
              </a:pPr>
              <a:t>2026-03-08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 bwMode="auto">
          <a:xfrm>
            <a:off x="7258592" y="28033663"/>
            <a:ext cx="6726741" cy="160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94199" tIns="147100" rIns="294199" bIns="147100" numCol="1" anchor="ctr" anchorCtr="0" compatLnSpc="1">
            <a:prstTxWarp prst="textNoShape">
              <a:avLst/>
            </a:prstTxWarp>
          </a:bodyPr>
          <a:lstStyle>
            <a:lvl1pPr algn="ctr">
              <a:defRPr kumimoji="0" sz="3900" dirty="0">
                <a:solidFill>
                  <a:srgbClr val="898989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 bwMode="auto">
          <a:xfrm>
            <a:off x="15225264" y="28033663"/>
            <a:ext cx="4956545" cy="160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94199" tIns="147100" rIns="294199" bIns="147100" numCol="1" anchor="ctr" anchorCtr="0" compatLnSpc="1">
            <a:prstTxWarp prst="textNoShape">
              <a:avLst/>
            </a:prstTxWarp>
          </a:bodyPr>
          <a:lstStyle>
            <a:lvl1pPr algn="r">
              <a:defRPr kumimoji="0" sz="3900">
                <a:solidFill>
                  <a:srgbClr val="898989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79F80004-9502-4905-9D0B-47AD385B361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941394" rtl="0" eaLnBrk="0" fontAlgn="base" latinLnBrk="1" hangingPunct="0">
        <a:spcBef>
          <a:spcPct val="0"/>
        </a:spcBef>
        <a:spcAft>
          <a:spcPct val="0"/>
        </a:spcAft>
        <a:defRPr sz="14199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941394" rtl="0" eaLnBrk="0" fontAlgn="base" latinLnBrk="1" hangingPunct="0">
        <a:spcBef>
          <a:spcPct val="0"/>
        </a:spcBef>
        <a:spcAft>
          <a:spcPct val="0"/>
        </a:spcAft>
        <a:defRPr sz="14199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2941394" rtl="0" eaLnBrk="0" fontAlgn="base" latinLnBrk="1" hangingPunct="0">
        <a:spcBef>
          <a:spcPct val="0"/>
        </a:spcBef>
        <a:spcAft>
          <a:spcPct val="0"/>
        </a:spcAft>
        <a:defRPr sz="14199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2941394" rtl="0" eaLnBrk="0" fontAlgn="base" latinLnBrk="1" hangingPunct="0">
        <a:spcBef>
          <a:spcPct val="0"/>
        </a:spcBef>
        <a:spcAft>
          <a:spcPct val="0"/>
        </a:spcAft>
        <a:defRPr sz="14199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2941394" rtl="0" eaLnBrk="0" fontAlgn="base" latinLnBrk="1" hangingPunct="0">
        <a:spcBef>
          <a:spcPct val="0"/>
        </a:spcBef>
        <a:spcAft>
          <a:spcPct val="0"/>
        </a:spcAft>
        <a:defRPr sz="14199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62" algn="ctr" defTabSz="2941394" rtl="0" fontAlgn="base" latinLnBrk="1">
        <a:spcBef>
          <a:spcPct val="0"/>
        </a:spcBef>
        <a:spcAft>
          <a:spcPct val="0"/>
        </a:spcAft>
        <a:defRPr sz="14199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324" algn="ctr" defTabSz="2941394" rtl="0" fontAlgn="base" latinLnBrk="1">
        <a:spcBef>
          <a:spcPct val="0"/>
        </a:spcBef>
        <a:spcAft>
          <a:spcPct val="0"/>
        </a:spcAft>
        <a:defRPr sz="14199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486" algn="ctr" defTabSz="2941394" rtl="0" fontAlgn="base" latinLnBrk="1">
        <a:spcBef>
          <a:spcPct val="0"/>
        </a:spcBef>
        <a:spcAft>
          <a:spcPct val="0"/>
        </a:spcAft>
        <a:defRPr sz="14199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648" algn="ctr" defTabSz="2941394" rtl="0" fontAlgn="base" latinLnBrk="1">
        <a:spcBef>
          <a:spcPct val="0"/>
        </a:spcBef>
        <a:spcAft>
          <a:spcPct val="0"/>
        </a:spcAft>
        <a:defRPr sz="14199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1103221" indent="-1103221" algn="l" defTabSz="2941394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10299" kern="1200">
          <a:solidFill>
            <a:schemeClr val="tx1"/>
          </a:solidFill>
          <a:latin typeface="+mn-lt"/>
          <a:ea typeface="+mn-ea"/>
          <a:cs typeface="+mn-cs"/>
        </a:defRPr>
      </a:lvl1pPr>
      <a:lvl2pPr marL="2390576" indent="-919086" algn="l" defTabSz="2941394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8999" kern="1200">
          <a:solidFill>
            <a:schemeClr val="tx1"/>
          </a:solidFill>
          <a:latin typeface="+mn-lt"/>
          <a:ea typeface="+mn-ea"/>
          <a:cs typeface="+mn-cs"/>
        </a:defRPr>
      </a:lvl2pPr>
      <a:lvl3pPr marL="3677932" indent="-736539" algn="l" defTabSz="2941394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3pPr>
      <a:lvl4pPr marL="5147835" indent="-734952" algn="l" defTabSz="2941394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6400" kern="1200">
          <a:solidFill>
            <a:schemeClr val="tx1"/>
          </a:solidFill>
          <a:latin typeface="+mn-lt"/>
          <a:ea typeface="+mn-ea"/>
          <a:cs typeface="+mn-cs"/>
        </a:defRPr>
      </a:lvl4pPr>
      <a:lvl5pPr marL="6619325" indent="-736539" algn="l" defTabSz="2941394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6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1" indent="-228581" algn="l" defTabSz="91432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3" indent="-228581" algn="l" defTabSz="91432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15" indent="-228581" algn="l" defTabSz="91432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77" indent="-228581" algn="l" defTabSz="91432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2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2" algn="l" defTabSz="91432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algn="l" defTabSz="91432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algn="l" defTabSz="91432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8" algn="l" defTabSz="91432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0" algn="l" defTabSz="91432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2" algn="l" defTabSz="91432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4" algn="l" defTabSz="91432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96" algn="l" defTabSz="91432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jpe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Relationship Id="rId25" Type="http://schemas.openxmlformats.org/officeDocument/2006/relationships/image" Target="../media/image23.png"/><Relationship Id="rId2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8E16CF0-0A74-33B6-176D-AA43E07C5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3" name="직선 연결선 4122">
            <a:extLst>
              <a:ext uri="{FF2B5EF4-FFF2-40B4-BE49-F238E27FC236}">
                <a16:creationId xmlns:a16="http://schemas.microsoft.com/office/drawing/2014/main" id="{A325AE12-CD44-E85B-6839-87E89CA8E3D5}"/>
              </a:ext>
            </a:extLst>
          </p:cNvPr>
          <p:cNvCxnSpPr>
            <a:cxnSpLocks/>
          </p:cNvCxnSpPr>
          <p:nvPr/>
        </p:nvCxnSpPr>
        <p:spPr>
          <a:xfrm>
            <a:off x="7236197" y="11068319"/>
            <a:ext cx="0" cy="6623120"/>
          </a:xfrm>
          <a:prstGeom prst="line">
            <a:avLst/>
          </a:prstGeom>
          <a:ln w="28575">
            <a:solidFill>
              <a:srgbClr val="8FB24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CE9558F5-08C0-07C7-9977-A68D4AE6FF0C}"/>
              </a:ext>
            </a:extLst>
          </p:cNvPr>
          <p:cNvSpPr/>
          <p:nvPr/>
        </p:nvSpPr>
        <p:spPr>
          <a:xfrm>
            <a:off x="3785297" y="4549370"/>
            <a:ext cx="2912716" cy="4104671"/>
          </a:xfrm>
          <a:prstGeom prst="roundRect">
            <a:avLst/>
          </a:prstGeom>
          <a:noFill/>
          <a:ln w="38100">
            <a:solidFill>
              <a:srgbClr val="8FB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4481A0DA-D01A-1978-FE1D-A3210DF048A5}"/>
              </a:ext>
            </a:extLst>
          </p:cNvPr>
          <p:cNvSpPr/>
          <p:nvPr/>
        </p:nvSpPr>
        <p:spPr>
          <a:xfrm>
            <a:off x="469321" y="4542211"/>
            <a:ext cx="2912716" cy="4104671"/>
          </a:xfrm>
          <a:prstGeom prst="roundRect">
            <a:avLst/>
          </a:prstGeom>
          <a:noFill/>
          <a:ln w="38100">
            <a:solidFill>
              <a:srgbClr val="8FB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581AC9D6-7145-B7F7-F6B3-35E0E4BF391E}"/>
              </a:ext>
            </a:extLst>
          </p:cNvPr>
          <p:cNvSpPr/>
          <p:nvPr/>
        </p:nvSpPr>
        <p:spPr>
          <a:xfrm>
            <a:off x="155242" y="3121574"/>
            <a:ext cx="20926603" cy="5802101"/>
          </a:xfrm>
          <a:prstGeom prst="roundRect">
            <a:avLst>
              <a:gd name="adj" fmla="val 6710"/>
            </a:avLst>
          </a:prstGeom>
          <a:noFill/>
          <a:ln w="76200">
            <a:solidFill>
              <a:srgbClr val="8FB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99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C669688-61D3-79AF-4A03-E50F1AACABBC}"/>
              </a:ext>
            </a:extLst>
          </p:cNvPr>
          <p:cNvSpPr/>
          <p:nvPr/>
        </p:nvSpPr>
        <p:spPr>
          <a:xfrm>
            <a:off x="793" y="2"/>
            <a:ext cx="21242338" cy="259233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99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2647B3-036B-1F8B-3EF8-9266954305D0}"/>
              </a:ext>
            </a:extLst>
          </p:cNvPr>
          <p:cNvSpPr txBox="1"/>
          <p:nvPr/>
        </p:nvSpPr>
        <p:spPr>
          <a:xfrm>
            <a:off x="109713" y="68681"/>
            <a:ext cx="71287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2025 </a:t>
            </a:r>
            <a:r>
              <a:rPr lang="ko-KR" altLang="en-US" sz="3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전자공학 창의설계 경진대회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26EBC0-A788-8126-AF46-6503AF6A349C}"/>
              </a:ext>
            </a:extLst>
          </p:cNvPr>
          <p:cNvSpPr txBox="1"/>
          <p:nvPr/>
        </p:nvSpPr>
        <p:spPr>
          <a:xfrm>
            <a:off x="109714" y="691359"/>
            <a:ext cx="1476072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5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딥러닝 기반 상황인지 </a:t>
            </a:r>
            <a:r>
              <a:rPr lang="en-US" altLang="ko-KR" sz="45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Platooning</a:t>
            </a:r>
            <a:r>
              <a:rPr lang="ko-KR" altLang="en-US" sz="4500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보조 시스템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F8DC69-6EE0-0054-CB80-C90767E0A705}"/>
              </a:ext>
            </a:extLst>
          </p:cNvPr>
          <p:cNvSpPr txBox="1"/>
          <p:nvPr/>
        </p:nvSpPr>
        <p:spPr>
          <a:xfrm>
            <a:off x="144912" y="1544869"/>
            <a:ext cx="110662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참가 팀 소속</a:t>
            </a:r>
            <a:r>
              <a:rPr lang="en-US" altLang="ko-KR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국민대학교 창의공과대학 전자공학부 </a:t>
            </a:r>
            <a:r>
              <a:rPr lang="en-US" altLang="ko-KR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담당교수</a:t>
            </a:r>
            <a:r>
              <a:rPr lang="en-US" altLang="ko-KR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25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███</a:t>
            </a:r>
            <a:r>
              <a:rPr lang="en-US" altLang="ko-KR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r>
              <a:rPr lang="ko-KR" altLang="en-US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참가 팀 이름</a:t>
            </a:r>
            <a:r>
              <a:rPr lang="en-US" altLang="ko-KR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en-US" altLang="ko-KR" sz="25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EEgo</a:t>
            </a:r>
            <a:r>
              <a:rPr lang="en-US" altLang="ko-KR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(</a:t>
            </a:r>
            <a:r>
              <a:rPr lang="ko-KR" altLang="en-US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███</a:t>
            </a:r>
            <a:r>
              <a:rPr lang="en-US" altLang="ko-KR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오승현</a:t>
            </a:r>
            <a:r>
              <a:rPr lang="en-US" altLang="ko-KR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25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███</a:t>
            </a:r>
            <a:r>
              <a:rPr lang="en-US" altLang="ko-KR" sz="25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2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AB951D3-C66A-EF42-E135-8A3B5804DF52}"/>
              </a:ext>
            </a:extLst>
          </p:cNvPr>
          <p:cNvSpPr/>
          <p:nvPr/>
        </p:nvSpPr>
        <p:spPr>
          <a:xfrm>
            <a:off x="630392" y="2725598"/>
            <a:ext cx="4266775" cy="783757"/>
          </a:xfrm>
          <a:prstGeom prst="roundRect">
            <a:avLst/>
          </a:prstGeom>
          <a:solidFill>
            <a:srgbClr val="9CBD5B"/>
          </a:solidFill>
          <a:ln w="12700">
            <a:solidFill>
              <a:srgbClr val="9CBD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1. System Overview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sp>
        <p:nvSpPr>
          <p:cNvPr id="53" name="모서리가 둥근 직사각형 52">
            <a:extLst>
              <a:ext uri="{FF2B5EF4-FFF2-40B4-BE49-F238E27FC236}">
                <a16:creationId xmlns:a16="http://schemas.microsoft.com/office/drawing/2014/main" id="{9CBC5B0F-B73E-D1A0-CBDA-11EB0C6AE0D6}"/>
              </a:ext>
            </a:extLst>
          </p:cNvPr>
          <p:cNvSpPr/>
          <p:nvPr/>
        </p:nvSpPr>
        <p:spPr>
          <a:xfrm>
            <a:off x="7269283" y="3413738"/>
            <a:ext cx="7392337" cy="57395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500" b="1" dirty="0">
                <a:solidFill>
                  <a:schemeClr val="tx1"/>
                </a:solidFill>
              </a:rPr>
              <a:t>1-2. Real-time Cooperative Platooning Control</a:t>
            </a:r>
            <a:endParaRPr lang="ko-KR" altLang="en-US" sz="2500" b="1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4F81090-09DE-A1E1-C727-EF840E5D5AE7}"/>
              </a:ext>
            </a:extLst>
          </p:cNvPr>
          <p:cNvSpPr/>
          <p:nvPr/>
        </p:nvSpPr>
        <p:spPr>
          <a:xfrm>
            <a:off x="7867245" y="4828582"/>
            <a:ext cx="6465664" cy="1104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26" indent="-285726">
              <a:buFontTx/>
              <a:buChar char="-"/>
            </a:pPr>
            <a:r>
              <a:rPr lang="ko-KR" altLang="en-US" sz="1600" b="1" dirty="0">
                <a:solidFill>
                  <a:schemeClr val="tx1"/>
                </a:solidFill>
              </a:rPr>
              <a:t>카메라</a:t>
            </a:r>
            <a:r>
              <a:rPr lang="ko-KR" altLang="en-US" sz="1600" dirty="0">
                <a:solidFill>
                  <a:schemeClr val="tx1"/>
                </a:solidFill>
              </a:rPr>
              <a:t>로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주행 상황 분석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85726" indent="-285726">
              <a:buFontTx/>
              <a:buChar char="-"/>
            </a:pPr>
            <a:r>
              <a:rPr lang="en-US" altLang="ko-KR" sz="1600" b="1" dirty="0">
                <a:solidFill>
                  <a:schemeClr val="tx1"/>
                </a:solidFill>
              </a:rPr>
              <a:t>CNN Model</a:t>
            </a:r>
            <a:r>
              <a:rPr lang="ko-KR" altLang="en-US" sz="1600" dirty="0">
                <a:solidFill>
                  <a:schemeClr val="tx1"/>
                </a:solidFill>
              </a:rPr>
              <a:t>로 실시간 분류하여 </a:t>
            </a:r>
            <a:r>
              <a:rPr lang="en-US" altLang="ko-KR" sz="1600" b="1" dirty="0">
                <a:solidFill>
                  <a:schemeClr val="tx1"/>
                </a:solidFill>
              </a:rPr>
              <a:t>Platooning</a:t>
            </a:r>
            <a:r>
              <a:rPr lang="ko-KR" altLang="en-US" sz="1600" b="1" dirty="0">
                <a:solidFill>
                  <a:schemeClr val="tx1"/>
                </a:solidFill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</a:rPr>
              <a:t>Mode</a:t>
            </a:r>
            <a:r>
              <a:rPr lang="ko-KR" altLang="en-US" sz="1600" dirty="0">
                <a:solidFill>
                  <a:schemeClr val="tx1"/>
                </a:solidFill>
              </a:rPr>
              <a:t> 결정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marL="285726" indent="-285726">
              <a:buFontTx/>
              <a:buChar char="-"/>
            </a:pPr>
            <a:r>
              <a:rPr lang="en-US" altLang="ko-KR" sz="1600" b="1" dirty="0">
                <a:solidFill>
                  <a:schemeClr val="tx1"/>
                </a:solidFill>
              </a:rPr>
              <a:t>Mode</a:t>
            </a:r>
            <a:r>
              <a:rPr lang="en-US" altLang="ko-KR" sz="1600" dirty="0">
                <a:solidFill>
                  <a:schemeClr val="tx1"/>
                </a:solidFill>
              </a:rPr>
              <a:t>: Cruise / ACC / Spacing / Overtaking / Leader Switching</a:t>
            </a:r>
          </a:p>
          <a:p>
            <a:pPr marL="285726" indent="-285726">
              <a:buFontTx/>
              <a:buChar char="-"/>
            </a:pPr>
            <a:r>
              <a:rPr lang="en-US" altLang="ko-KR" sz="1600" b="1" dirty="0">
                <a:solidFill>
                  <a:schemeClr val="tx1"/>
                </a:solidFill>
              </a:rPr>
              <a:t>5G </a:t>
            </a:r>
            <a:r>
              <a:rPr lang="ko-KR" altLang="en-US" sz="1600" b="1" dirty="0" err="1">
                <a:solidFill>
                  <a:schemeClr val="tx1"/>
                </a:solidFill>
              </a:rPr>
              <a:t>특화망</a:t>
            </a:r>
            <a:r>
              <a:rPr lang="ko-KR" altLang="en-US" sz="1600" b="1" dirty="0">
                <a:solidFill>
                  <a:schemeClr val="tx1"/>
                </a:solidFill>
              </a:rPr>
              <a:t> 기반 </a:t>
            </a:r>
            <a:r>
              <a:rPr lang="ko-KR" altLang="en-US" sz="1600" b="1" dirty="0" err="1">
                <a:solidFill>
                  <a:schemeClr val="tx1"/>
                </a:solidFill>
              </a:rPr>
              <a:t>저지연</a:t>
            </a:r>
            <a:r>
              <a:rPr lang="ko-KR" altLang="en-US" sz="1600" b="1" dirty="0">
                <a:solidFill>
                  <a:schemeClr val="tx1"/>
                </a:solidFill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</a:rPr>
              <a:t>V2V Platooning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ko-KR" altLang="en-US" sz="1600" dirty="0">
                <a:solidFill>
                  <a:schemeClr val="tx1"/>
                </a:solidFill>
              </a:rPr>
              <a:t>통신 구현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3B946B37-A1A3-4FCC-0C1F-E77B514B3B8A}"/>
              </a:ext>
            </a:extLst>
          </p:cNvPr>
          <p:cNvSpPr/>
          <p:nvPr/>
        </p:nvSpPr>
        <p:spPr>
          <a:xfrm>
            <a:off x="12899231" y="24547175"/>
            <a:ext cx="7947867" cy="4491655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99"/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55CA9547-1ADF-FB60-39DD-0E3A21DD68CB}"/>
              </a:ext>
            </a:extLst>
          </p:cNvPr>
          <p:cNvSpPr/>
          <p:nvPr/>
        </p:nvSpPr>
        <p:spPr>
          <a:xfrm>
            <a:off x="14267228" y="29240436"/>
            <a:ext cx="4977824" cy="62179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b="1" dirty="0">
                <a:solidFill>
                  <a:schemeClr val="tx1"/>
                </a:solidFill>
              </a:rPr>
              <a:t>Demo Video QR Code</a:t>
            </a:r>
            <a:endParaRPr lang="ko-KR" altLang="en-US" sz="3000" b="1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002ECB0-D5C2-D8B1-D65B-AC69092D7DD1}"/>
              </a:ext>
            </a:extLst>
          </p:cNvPr>
          <p:cNvSpPr/>
          <p:nvPr/>
        </p:nvSpPr>
        <p:spPr>
          <a:xfrm>
            <a:off x="19544491" y="28602235"/>
            <a:ext cx="1260000" cy="1260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99"/>
          </a:p>
        </p:txBody>
      </p:sp>
      <p:pic>
        <p:nvPicPr>
          <p:cNvPr id="75" name="그림 7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D1CBE6-B356-5B15-3C44-21F0F8C9E7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1364" y="25620298"/>
            <a:ext cx="1847605" cy="1051082"/>
          </a:xfrm>
          <a:prstGeom prst="rect">
            <a:avLst/>
          </a:prstGeom>
        </p:spPr>
      </p:pic>
      <p:sp>
        <p:nvSpPr>
          <p:cNvPr id="76" name="직사각형 75">
            <a:extLst>
              <a:ext uri="{FF2B5EF4-FFF2-40B4-BE49-F238E27FC236}">
                <a16:creationId xmlns:a16="http://schemas.microsoft.com/office/drawing/2014/main" id="{D332DA90-EA5A-2513-70AC-2783E7AB59ED}"/>
              </a:ext>
            </a:extLst>
          </p:cNvPr>
          <p:cNvSpPr/>
          <p:nvPr/>
        </p:nvSpPr>
        <p:spPr>
          <a:xfrm>
            <a:off x="13154923" y="26380381"/>
            <a:ext cx="2071567" cy="6119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</a:rPr>
              <a:t>Platooning </a:t>
            </a:r>
            <a:r>
              <a:rPr lang="ko-KR" altLang="en-US" sz="1500" b="1" dirty="0">
                <a:solidFill>
                  <a:schemeClr val="tx1"/>
                </a:solidFill>
              </a:rPr>
              <a:t>물류 차량</a:t>
            </a:r>
            <a:endParaRPr lang="en-US" altLang="ko-KR" sz="1500" b="1" dirty="0">
              <a:solidFill>
                <a:schemeClr val="tx1"/>
              </a:solidFill>
            </a:endParaRPr>
          </a:p>
        </p:txBody>
      </p:sp>
      <p:pic>
        <p:nvPicPr>
          <p:cNvPr id="78" name="그림 77" descr="그래픽, 예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9EB124-D174-CCC5-53A1-CBBD671589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1620" y="26911740"/>
            <a:ext cx="1175710" cy="1357665"/>
          </a:xfrm>
          <a:prstGeom prst="rect">
            <a:avLst/>
          </a:prstGeom>
        </p:spPr>
      </p:pic>
      <p:sp>
        <p:nvSpPr>
          <p:cNvPr id="79" name="직사각형 78">
            <a:extLst>
              <a:ext uri="{FF2B5EF4-FFF2-40B4-BE49-F238E27FC236}">
                <a16:creationId xmlns:a16="http://schemas.microsoft.com/office/drawing/2014/main" id="{6E274029-2EAE-F532-7880-F79BF3122834}"/>
              </a:ext>
            </a:extLst>
          </p:cNvPr>
          <p:cNvSpPr/>
          <p:nvPr/>
        </p:nvSpPr>
        <p:spPr>
          <a:xfrm>
            <a:off x="14167108" y="28181034"/>
            <a:ext cx="2071567" cy="6119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재난 현장 </a:t>
            </a:r>
            <a:endParaRPr lang="en-US" altLang="ko-KR" sz="15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로봇 군집 이동</a:t>
            </a:r>
            <a:endParaRPr lang="en-US" altLang="ko-KR" sz="1500" b="1" dirty="0">
              <a:solidFill>
                <a:schemeClr val="tx1"/>
              </a:solidFill>
            </a:endParaRPr>
          </a:p>
        </p:txBody>
      </p:sp>
      <p:pic>
        <p:nvPicPr>
          <p:cNvPr id="81" name="그림 80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2C4D47-FDFE-F3C4-7EB7-428C38D0F5E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1591" y="27265470"/>
            <a:ext cx="1390977" cy="1039236"/>
          </a:xfrm>
          <a:prstGeom prst="rect">
            <a:avLst/>
          </a:prstGeom>
        </p:spPr>
      </p:pic>
      <p:sp>
        <p:nvSpPr>
          <p:cNvPr id="82" name="직사각형 81">
            <a:extLst>
              <a:ext uri="{FF2B5EF4-FFF2-40B4-BE49-F238E27FC236}">
                <a16:creationId xmlns:a16="http://schemas.microsoft.com/office/drawing/2014/main" id="{242CD1E2-7D0C-171E-B196-828B5D2FAE89}"/>
              </a:ext>
            </a:extLst>
          </p:cNvPr>
          <p:cNvSpPr/>
          <p:nvPr/>
        </p:nvSpPr>
        <p:spPr>
          <a:xfrm>
            <a:off x="17319528" y="28304708"/>
            <a:ext cx="2071567" cy="6119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노약자 보조이동 </a:t>
            </a:r>
            <a:endParaRPr lang="en-US" altLang="ko-KR" sz="15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시스템</a:t>
            </a:r>
            <a:endParaRPr lang="en-US" altLang="ko-KR" sz="1500" b="1" dirty="0">
              <a:solidFill>
                <a:schemeClr val="tx1"/>
              </a:solidFill>
            </a:endParaRPr>
          </a:p>
        </p:txBody>
      </p:sp>
      <p:pic>
        <p:nvPicPr>
          <p:cNvPr id="4104" name="Picture 8" descr="Robot - Free halloween icons">
            <a:extLst>
              <a:ext uri="{FF2B5EF4-FFF2-40B4-BE49-F238E27FC236}">
                <a16:creationId xmlns:a16="http://schemas.microsoft.com/office/drawing/2014/main" id="{E62D3E25-C19C-08F2-48B2-243637694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7817" y="25623505"/>
            <a:ext cx="1095518" cy="109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직사각형 84">
            <a:extLst>
              <a:ext uri="{FF2B5EF4-FFF2-40B4-BE49-F238E27FC236}">
                <a16:creationId xmlns:a16="http://schemas.microsoft.com/office/drawing/2014/main" id="{A8BA67B3-5B6C-8E0E-C76B-7035488B413C}"/>
              </a:ext>
            </a:extLst>
          </p:cNvPr>
          <p:cNvSpPr/>
          <p:nvPr/>
        </p:nvSpPr>
        <p:spPr>
          <a:xfrm>
            <a:off x="18584398" y="26675267"/>
            <a:ext cx="2071567" cy="6119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다중 로봇 </a:t>
            </a:r>
            <a:endParaRPr lang="en-US" altLang="ko-KR" sz="15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500" b="1" dirty="0">
                <a:solidFill>
                  <a:schemeClr val="tx1"/>
                </a:solidFill>
              </a:rPr>
              <a:t>협업 시스템</a:t>
            </a:r>
            <a:endParaRPr lang="en-US" altLang="ko-KR" sz="1500" b="1" dirty="0">
              <a:solidFill>
                <a:schemeClr val="tx1"/>
              </a:solidFill>
            </a:endParaRPr>
          </a:p>
        </p:txBody>
      </p:sp>
      <p:pic>
        <p:nvPicPr>
          <p:cNvPr id="87" name="그림 86" descr="블랙, 스케치, 어둠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B8B1AB-2240-FACF-76CE-5F844C39B0D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8822" y="26098889"/>
            <a:ext cx="1217418" cy="1217418"/>
          </a:xfrm>
          <a:prstGeom prst="rect">
            <a:avLst/>
          </a:prstGeom>
        </p:spPr>
      </p:pic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A374BE03-9FF4-BC03-DA15-04E2CE28105D}"/>
              </a:ext>
            </a:extLst>
          </p:cNvPr>
          <p:cNvSpPr/>
          <p:nvPr/>
        </p:nvSpPr>
        <p:spPr>
          <a:xfrm>
            <a:off x="14667795" y="24770803"/>
            <a:ext cx="4307095" cy="1528707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b="1" dirty="0">
                <a:solidFill>
                  <a:schemeClr val="tx1"/>
                </a:solidFill>
              </a:rPr>
              <a:t>Deep Learning–Based Cooperative Platooning System</a:t>
            </a:r>
            <a:endParaRPr lang="ko-KR" altLang="en-US" sz="3000" b="1" dirty="0">
              <a:solidFill>
                <a:schemeClr val="tx1"/>
              </a:solidFill>
            </a:endParaRPr>
          </a:p>
        </p:txBody>
      </p:sp>
      <p:cxnSp>
        <p:nvCxnSpPr>
          <p:cNvPr id="90" name="직선 연결선[R] 89">
            <a:extLst>
              <a:ext uri="{FF2B5EF4-FFF2-40B4-BE49-F238E27FC236}">
                <a16:creationId xmlns:a16="http://schemas.microsoft.com/office/drawing/2014/main" id="{AF7B1C12-621E-9C8E-6A91-BCF02D571F75}"/>
              </a:ext>
            </a:extLst>
          </p:cNvPr>
          <p:cNvCxnSpPr>
            <a:cxnSpLocks/>
          </p:cNvCxnSpPr>
          <p:nvPr/>
        </p:nvCxnSpPr>
        <p:spPr>
          <a:xfrm>
            <a:off x="14960058" y="26337686"/>
            <a:ext cx="1278617" cy="333694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[R] 91">
            <a:extLst>
              <a:ext uri="{FF2B5EF4-FFF2-40B4-BE49-F238E27FC236}">
                <a16:creationId xmlns:a16="http://schemas.microsoft.com/office/drawing/2014/main" id="{C198EEE5-89E3-A12B-5517-5F6741477457}"/>
              </a:ext>
            </a:extLst>
          </p:cNvPr>
          <p:cNvCxnSpPr>
            <a:cxnSpLocks/>
          </p:cNvCxnSpPr>
          <p:nvPr/>
        </p:nvCxnSpPr>
        <p:spPr>
          <a:xfrm flipV="1">
            <a:off x="15734528" y="27028836"/>
            <a:ext cx="524294" cy="295095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[R] 94">
            <a:extLst>
              <a:ext uri="{FF2B5EF4-FFF2-40B4-BE49-F238E27FC236}">
                <a16:creationId xmlns:a16="http://schemas.microsoft.com/office/drawing/2014/main" id="{D5411E74-45BE-5321-ADB9-D4D09AC1D4AD}"/>
              </a:ext>
            </a:extLst>
          </p:cNvPr>
          <p:cNvCxnSpPr>
            <a:cxnSpLocks/>
          </p:cNvCxnSpPr>
          <p:nvPr/>
        </p:nvCxnSpPr>
        <p:spPr>
          <a:xfrm flipH="1" flipV="1">
            <a:off x="17496391" y="27124864"/>
            <a:ext cx="325659" cy="199067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[R] 96">
            <a:extLst>
              <a:ext uri="{FF2B5EF4-FFF2-40B4-BE49-F238E27FC236}">
                <a16:creationId xmlns:a16="http://schemas.microsoft.com/office/drawing/2014/main" id="{D3AAFAA8-D71A-53AA-047F-59C4138185B6}"/>
              </a:ext>
            </a:extLst>
          </p:cNvPr>
          <p:cNvCxnSpPr>
            <a:cxnSpLocks/>
          </p:cNvCxnSpPr>
          <p:nvPr/>
        </p:nvCxnSpPr>
        <p:spPr>
          <a:xfrm flipH="1">
            <a:off x="17476242" y="26366953"/>
            <a:ext cx="1519569" cy="28653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8920A0E3-72A0-09DB-CD1B-0072EB2EC387}"/>
              </a:ext>
            </a:extLst>
          </p:cNvPr>
          <p:cNvSpPr/>
          <p:nvPr/>
        </p:nvSpPr>
        <p:spPr>
          <a:xfrm>
            <a:off x="385879" y="18915745"/>
            <a:ext cx="6034571" cy="4229232"/>
          </a:xfrm>
          <a:prstGeom prst="roundRect">
            <a:avLst/>
          </a:prstGeom>
          <a:solidFill>
            <a:schemeClr val="accent3">
              <a:lumMod val="40000"/>
              <a:lumOff val="60000"/>
              <a:alpha val="50000"/>
            </a:schemeClr>
          </a:solidFill>
          <a:ln w="38100"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97D9758C-8D3D-D2DD-A233-B78D25ED1944}"/>
              </a:ext>
            </a:extLst>
          </p:cNvPr>
          <p:cNvSpPr/>
          <p:nvPr/>
        </p:nvSpPr>
        <p:spPr>
          <a:xfrm>
            <a:off x="6607062" y="19019998"/>
            <a:ext cx="4215669" cy="168182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</a:rPr>
              <a:t>Dataset</a:t>
            </a:r>
            <a:r>
              <a:rPr lang="ko-KR" altLang="en-US" sz="1500" b="1" dirty="0">
                <a:solidFill>
                  <a:schemeClr val="tx1"/>
                </a:solidFill>
              </a:rPr>
              <a:t> </a:t>
            </a:r>
            <a:r>
              <a:rPr lang="en-US" altLang="ko-KR" sz="1500" b="1" dirty="0">
                <a:solidFill>
                  <a:schemeClr val="tx1"/>
                </a:solidFill>
              </a:rPr>
              <a:t>– overfit </a:t>
            </a:r>
            <a:r>
              <a:rPr lang="ko-KR" altLang="en-US" sz="1500" b="1" dirty="0">
                <a:solidFill>
                  <a:schemeClr val="tx1"/>
                </a:solidFill>
              </a:rPr>
              <a:t>방지 </a:t>
            </a:r>
            <a:r>
              <a:rPr lang="en-US" altLang="ko-KR" sz="1500" b="1" dirty="0">
                <a:solidFill>
                  <a:schemeClr val="tx1"/>
                </a:solidFill>
              </a:rPr>
              <a:t>augmentation</a:t>
            </a:r>
          </a:p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500</a:t>
            </a:r>
            <a:r>
              <a:rPr lang="ko-KR" altLang="en-US" sz="1500" dirty="0">
                <a:solidFill>
                  <a:schemeClr val="tx1"/>
                </a:solidFill>
              </a:rPr>
              <a:t>장의 </a:t>
            </a:r>
            <a:r>
              <a:rPr lang="en-US" altLang="ko-KR" sz="1500" dirty="0">
                <a:solidFill>
                  <a:schemeClr val="tx1"/>
                </a:solidFill>
              </a:rPr>
              <a:t>dataset</a:t>
            </a:r>
            <a:r>
              <a:rPr lang="ko-KR" altLang="en-US" sz="1500" dirty="0">
                <a:solidFill>
                  <a:schemeClr val="tx1"/>
                </a:solidFill>
              </a:rPr>
              <a:t> 구축</a:t>
            </a:r>
            <a:endParaRPr lang="en-US" altLang="ko-KR" sz="1500" dirty="0">
              <a:solidFill>
                <a:schemeClr val="tx1"/>
              </a:solidFill>
            </a:endParaRPr>
          </a:p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7:1.5:1.5</a:t>
            </a:r>
            <a:r>
              <a:rPr lang="ko-KR" altLang="en-US" sz="1500" dirty="0">
                <a:solidFill>
                  <a:schemeClr val="tx1"/>
                </a:solidFill>
              </a:rPr>
              <a:t>의 비율로 </a:t>
            </a:r>
            <a:r>
              <a:rPr lang="en-US" altLang="ko-KR" sz="1500" dirty="0">
                <a:solidFill>
                  <a:schemeClr val="tx1"/>
                </a:solidFill>
              </a:rPr>
              <a:t>train/validation/test</a:t>
            </a:r>
            <a:r>
              <a:rPr lang="ko-KR" altLang="en-US" sz="1500" dirty="0">
                <a:solidFill>
                  <a:schemeClr val="tx1"/>
                </a:solidFill>
              </a:rPr>
              <a:t>를</a:t>
            </a:r>
            <a:r>
              <a:rPr lang="en-US" altLang="ko-KR" sz="1500" dirty="0">
                <a:solidFill>
                  <a:schemeClr val="tx1"/>
                </a:solidFill>
              </a:rPr>
              <a:t> </a:t>
            </a:r>
            <a:r>
              <a:rPr lang="ko-KR" altLang="en-US" sz="1500" dirty="0">
                <a:solidFill>
                  <a:schemeClr val="tx1"/>
                </a:solidFill>
              </a:rPr>
              <a:t>분할 </a:t>
            </a:r>
            <a:endParaRPr lang="en-US" altLang="ko-KR" sz="1500" dirty="0">
              <a:solidFill>
                <a:schemeClr val="tx1"/>
              </a:solidFill>
            </a:endParaRPr>
          </a:p>
          <a:p>
            <a:pPr algn="ctr"/>
            <a:r>
              <a:rPr lang="en-US" altLang="ko-KR" sz="1500" b="1" dirty="0">
                <a:solidFill>
                  <a:schemeClr val="tx1"/>
                </a:solidFill>
              </a:rPr>
              <a:t>Photometric</a:t>
            </a:r>
            <a:r>
              <a:rPr lang="ko-KR" altLang="en-US" sz="1500" b="1" dirty="0">
                <a:solidFill>
                  <a:schemeClr val="tx1"/>
                </a:solidFill>
              </a:rPr>
              <a:t> </a:t>
            </a:r>
            <a:r>
              <a:rPr lang="en-US" altLang="ko-KR" sz="1500" b="1" dirty="0" err="1">
                <a:solidFill>
                  <a:schemeClr val="tx1"/>
                </a:solidFill>
              </a:rPr>
              <a:t>aug</a:t>
            </a:r>
            <a:r>
              <a:rPr lang="en-US" altLang="ko-KR" sz="1500" b="1" dirty="0">
                <a:solidFill>
                  <a:schemeClr val="tx1"/>
                </a:solidFill>
              </a:rPr>
              <a:t>,</a:t>
            </a:r>
            <a:r>
              <a:rPr lang="ko-KR" altLang="en-US" sz="1500" b="1" dirty="0">
                <a:solidFill>
                  <a:schemeClr val="tx1"/>
                </a:solidFill>
              </a:rPr>
              <a:t> </a:t>
            </a:r>
            <a:r>
              <a:rPr lang="en-US" altLang="ko-KR" sz="1500" b="1" dirty="0">
                <a:solidFill>
                  <a:schemeClr val="tx1"/>
                </a:solidFill>
              </a:rPr>
              <a:t>Geometric </a:t>
            </a:r>
            <a:r>
              <a:rPr lang="en-US" altLang="ko-KR" sz="1500" b="1" dirty="0" err="1">
                <a:solidFill>
                  <a:schemeClr val="tx1"/>
                </a:solidFill>
              </a:rPr>
              <a:t>aug</a:t>
            </a:r>
            <a:r>
              <a:rPr lang="ko-KR" altLang="en-US" sz="1500" dirty="0">
                <a:solidFill>
                  <a:schemeClr val="tx1"/>
                </a:solidFill>
              </a:rPr>
              <a:t>을 적용하여 </a:t>
            </a:r>
            <a:r>
              <a:rPr lang="ko-KR" altLang="en-US" sz="1500" b="1" dirty="0">
                <a:solidFill>
                  <a:schemeClr val="tx1"/>
                </a:solidFill>
              </a:rPr>
              <a:t>기존 대비 </a:t>
            </a:r>
            <a:r>
              <a:rPr lang="en-US" altLang="ko-KR" sz="1500" b="1" dirty="0">
                <a:solidFill>
                  <a:schemeClr val="tx1"/>
                </a:solidFill>
              </a:rPr>
              <a:t>3</a:t>
            </a:r>
            <a:r>
              <a:rPr lang="ko-KR" altLang="en-US" sz="1500" b="1" dirty="0">
                <a:solidFill>
                  <a:schemeClr val="tx1"/>
                </a:solidFill>
              </a:rPr>
              <a:t>배의 </a:t>
            </a:r>
            <a:r>
              <a:rPr lang="en-US" altLang="ko-KR" sz="1500" b="1" dirty="0">
                <a:solidFill>
                  <a:schemeClr val="tx1"/>
                </a:solidFill>
              </a:rPr>
              <a:t>dataset</a:t>
            </a:r>
            <a:r>
              <a:rPr lang="ko-KR" altLang="en-US" sz="1500" dirty="0">
                <a:solidFill>
                  <a:schemeClr val="tx1"/>
                </a:solidFill>
              </a:rPr>
              <a:t>을 구축</a:t>
            </a:r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AAFEA6D4-A731-D8D4-4F0A-3457F726C01D}"/>
              </a:ext>
            </a:extLst>
          </p:cNvPr>
          <p:cNvSpPr/>
          <p:nvPr/>
        </p:nvSpPr>
        <p:spPr>
          <a:xfrm>
            <a:off x="6623676" y="20824253"/>
            <a:ext cx="4182439" cy="234463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</a:rPr>
              <a:t>Train</a:t>
            </a:r>
          </a:p>
          <a:p>
            <a:pPr algn="ctr"/>
            <a:r>
              <a:rPr lang="ko-KR" altLang="en-US" sz="1500" dirty="0">
                <a:solidFill>
                  <a:schemeClr val="tx1"/>
                </a:solidFill>
              </a:rPr>
              <a:t>증강된 </a:t>
            </a:r>
            <a:r>
              <a:rPr lang="en-US" altLang="ko-KR" sz="1500" dirty="0">
                <a:solidFill>
                  <a:schemeClr val="tx1"/>
                </a:solidFill>
              </a:rPr>
              <a:t>dataset</a:t>
            </a:r>
            <a:r>
              <a:rPr lang="ko-KR" altLang="en-US" sz="1500" dirty="0">
                <a:solidFill>
                  <a:schemeClr val="tx1"/>
                </a:solidFill>
              </a:rPr>
              <a:t>은 </a:t>
            </a:r>
            <a:r>
              <a:rPr lang="en-US" altLang="ko-KR" sz="1500" dirty="0">
                <a:solidFill>
                  <a:schemeClr val="tx1"/>
                </a:solidFill>
              </a:rPr>
              <a:t>2-Stage </a:t>
            </a:r>
            <a:r>
              <a:rPr lang="en-US" altLang="ko-KR" sz="1500" b="1" dirty="0">
                <a:solidFill>
                  <a:schemeClr val="tx1"/>
                </a:solidFill>
              </a:rPr>
              <a:t>CNN((</a:t>
            </a:r>
            <a:r>
              <a:rPr lang="en-US" altLang="ko-KR" sz="1500" b="1" dirty="0" err="1">
                <a:solidFill>
                  <a:schemeClr val="tx1"/>
                </a:solidFill>
              </a:rPr>
              <a:t>Conv</a:t>
            </a:r>
            <a:r>
              <a:rPr lang="en-US" altLang="ko-KR" sz="1500" b="1" dirty="0" err="1">
                <a:solidFill>
                  <a:schemeClr val="tx1"/>
                </a:solidFill>
                <a:sym typeface="Wingdings" pitchFamily="2" charset="2"/>
              </a:rPr>
              <a:t>ReLUPooling</a:t>
            </a:r>
            <a:r>
              <a:rPr lang="en-US" altLang="ko-KR" sz="1500" b="1" dirty="0">
                <a:solidFill>
                  <a:schemeClr val="tx1"/>
                </a:solidFill>
                <a:sym typeface="Wingdings" pitchFamily="2" charset="2"/>
              </a:rPr>
              <a:t>)x2</a:t>
            </a:r>
            <a:r>
              <a:rPr lang="en-US" altLang="ko-KR" sz="1500" b="1" dirty="0">
                <a:solidFill>
                  <a:schemeClr val="tx1"/>
                </a:solidFill>
              </a:rPr>
              <a:t>)</a:t>
            </a:r>
            <a:r>
              <a:rPr lang="ko-KR" altLang="en-US" sz="1500" b="1" dirty="0">
                <a:solidFill>
                  <a:schemeClr val="tx1"/>
                </a:solidFill>
              </a:rPr>
              <a:t> </a:t>
            </a:r>
            <a:r>
              <a:rPr lang="ko-KR" altLang="en-US" sz="1500" dirty="0">
                <a:solidFill>
                  <a:schemeClr val="tx1"/>
                </a:solidFill>
              </a:rPr>
              <a:t>및 </a:t>
            </a:r>
            <a:r>
              <a:rPr lang="en-US" altLang="ko-KR" sz="1500" dirty="0">
                <a:solidFill>
                  <a:schemeClr val="tx1"/>
                </a:solidFill>
              </a:rPr>
              <a:t>64</a:t>
            </a:r>
            <a:r>
              <a:rPr lang="ko-KR" altLang="en-US" sz="1500" dirty="0">
                <a:solidFill>
                  <a:schemeClr val="tx1"/>
                </a:solidFill>
              </a:rPr>
              <a:t>차원 일반 주행</a:t>
            </a:r>
            <a:r>
              <a:rPr lang="en-US" altLang="ko-KR" sz="1500" dirty="0">
                <a:solidFill>
                  <a:schemeClr val="tx1"/>
                </a:solidFill>
              </a:rPr>
              <a:t>,</a:t>
            </a:r>
            <a:r>
              <a:rPr lang="ko-KR" altLang="en-US" sz="1500" dirty="0">
                <a:solidFill>
                  <a:schemeClr val="tx1"/>
                </a:solidFill>
              </a:rPr>
              <a:t> 차간 거리</a:t>
            </a:r>
            <a:r>
              <a:rPr lang="en-US" altLang="ko-KR" sz="1500" dirty="0">
                <a:solidFill>
                  <a:schemeClr val="tx1"/>
                </a:solidFill>
              </a:rPr>
              <a:t>,</a:t>
            </a:r>
            <a:r>
              <a:rPr lang="ko-KR" altLang="en-US" sz="1500" dirty="0">
                <a:solidFill>
                  <a:schemeClr val="tx1"/>
                </a:solidFill>
              </a:rPr>
              <a:t> 추월 모드의 세 가지 상황을 실시간으로 분류하며</a:t>
            </a:r>
            <a:r>
              <a:rPr lang="en-US" altLang="ko-KR" sz="1500" dirty="0">
                <a:solidFill>
                  <a:schemeClr val="tx1"/>
                </a:solidFill>
              </a:rPr>
              <a:t>,</a:t>
            </a:r>
            <a:r>
              <a:rPr lang="ko-KR" altLang="en-US" sz="1500" dirty="0">
                <a:solidFill>
                  <a:schemeClr val="tx1"/>
                </a:solidFill>
              </a:rPr>
              <a:t> </a:t>
            </a:r>
            <a:r>
              <a:rPr lang="ko-KR" altLang="en-US" sz="1500" dirty="0" err="1">
                <a:solidFill>
                  <a:schemeClr val="tx1"/>
                </a:solidFill>
              </a:rPr>
              <a:t>경량화된</a:t>
            </a:r>
            <a:r>
              <a:rPr lang="ko-KR" altLang="en-US" sz="1500" dirty="0">
                <a:solidFill>
                  <a:schemeClr val="tx1"/>
                </a:solidFill>
              </a:rPr>
              <a:t> 구조를 통해 </a:t>
            </a:r>
            <a:r>
              <a:rPr lang="ko-KR" altLang="en-US" sz="1500" b="1" dirty="0" err="1">
                <a:solidFill>
                  <a:schemeClr val="tx1"/>
                </a:solidFill>
              </a:rPr>
              <a:t>라즈베리파이</a:t>
            </a:r>
            <a:r>
              <a:rPr lang="ko-KR" altLang="en-US" sz="1500" b="1" dirty="0">
                <a:solidFill>
                  <a:schemeClr val="tx1"/>
                </a:solidFill>
              </a:rPr>
              <a:t> 기반 차량에서도 안정적인 추론 속도를 확보</a:t>
            </a:r>
            <a:r>
              <a:rPr lang="en-US" altLang="ko-KR" sz="1500" dirty="0">
                <a:solidFill>
                  <a:schemeClr val="tx1"/>
                </a:solidFill>
              </a:rPr>
              <a:t>MLP</a:t>
            </a:r>
            <a:r>
              <a:rPr lang="ko-KR" altLang="en-US" sz="1500" dirty="0">
                <a:solidFill>
                  <a:schemeClr val="tx1"/>
                </a:solidFill>
              </a:rPr>
              <a:t> 분류기에 입력되어 </a:t>
            </a:r>
            <a:endParaRPr lang="en-US" altLang="ko-KR" sz="1500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4AA4A91-B92C-F45C-34C6-E3EC532A5A84}"/>
              </a:ext>
            </a:extLst>
          </p:cNvPr>
          <p:cNvSpPr/>
          <p:nvPr/>
        </p:nvSpPr>
        <p:spPr>
          <a:xfrm>
            <a:off x="7715016" y="3909427"/>
            <a:ext cx="6547637" cy="3517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tx1"/>
                </a:solidFill>
              </a:rPr>
              <a:t>with CNN-based Driving Situation Recognition &amp; 5G V2V Networking</a:t>
            </a:r>
            <a:endParaRPr lang="ko-KR" altLang="en-US" sz="1500" b="1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C2D789D-CE36-8B67-5622-0459E7B65C12}"/>
              </a:ext>
            </a:extLst>
          </p:cNvPr>
          <p:cNvSpPr/>
          <p:nvPr/>
        </p:nvSpPr>
        <p:spPr>
          <a:xfrm>
            <a:off x="17960845" y="3856447"/>
            <a:ext cx="2678026" cy="8334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Follower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명령 기반 주행제어 수행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13D09F4-A5F3-BC70-F6C9-2E0055E4C8C2}"/>
              </a:ext>
            </a:extLst>
          </p:cNvPr>
          <p:cNvSpPr/>
          <p:nvPr/>
        </p:nvSpPr>
        <p:spPr>
          <a:xfrm>
            <a:off x="15413531" y="3789571"/>
            <a:ext cx="2461242" cy="877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Leader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CNN </a:t>
            </a:r>
            <a:r>
              <a:rPr lang="ko-KR" altLang="en-US" sz="1400" dirty="0">
                <a:solidFill>
                  <a:schemeClr val="tx1"/>
                </a:solidFill>
              </a:rPr>
              <a:t>기반 도로 상황 분류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플래투닝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Action </a:t>
            </a:r>
            <a:r>
              <a:rPr lang="ko-KR" altLang="en-US" sz="1400" dirty="0">
                <a:solidFill>
                  <a:schemeClr val="tx1"/>
                </a:solidFill>
              </a:rPr>
              <a:t>전송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3C33CF8D-622B-D24C-DC23-3822CDD2F592}"/>
              </a:ext>
            </a:extLst>
          </p:cNvPr>
          <p:cNvSpPr/>
          <p:nvPr/>
        </p:nvSpPr>
        <p:spPr>
          <a:xfrm>
            <a:off x="144912" y="9520673"/>
            <a:ext cx="20926602" cy="13876587"/>
          </a:xfrm>
          <a:prstGeom prst="roundRect">
            <a:avLst>
              <a:gd name="adj" fmla="val 6505"/>
            </a:avLst>
          </a:prstGeom>
          <a:noFill/>
          <a:ln w="76200">
            <a:solidFill>
              <a:srgbClr val="8FB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99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9AA34B7-02F9-AA0D-405F-5C52D5F92F0A}"/>
              </a:ext>
            </a:extLst>
          </p:cNvPr>
          <p:cNvSpPr/>
          <p:nvPr/>
        </p:nvSpPr>
        <p:spPr>
          <a:xfrm>
            <a:off x="1168355" y="4267381"/>
            <a:ext cx="1527401" cy="501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 err="1">
                <a:solidFill>
                  <a:schemeClr val="tx1"/>
                </a:solidFill>
              </a:rPr>
              <a:t>플래투닝</a:t>
            </a:r>
            <a:endParaRPr lang="en-US" altLang="ko-KR" sz="2200" b="1" dirty="0">
              <a:solidFill>
                <a:schemeClr val="tx1"/>
              </a:solidFill>
            </a:endParaRPr>
          </a:p>
        </p:txBody>
      </p:sp>
      <p:pic>
        <p:nvPicPr>
          <p:cNvPr id="49" name="그림 48" descr="복합 재료, 바닥, 실내, 지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DF8AB0-F701-BDFA-DC04-AF91D51E786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6335" y="4679852"/>
            <a:ext cx="5473567" cy="41051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CF974632-7A32-C753-1248-4466E0B1F610}"/>
              </a:ext>
            </a:extLst>
          </p:cNvPr>
          <p:cNvSpPr/>
          <p:nvPr/>
        </p:nvSpPr>
        <p:spPr>
          <a:xfrm>
            <a:off x="17152858" y="6877642"/>
            <a:ext cx="1549213" cy="3859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5G Private Network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D56770A-9621-CF2F-752D-376E700CE0C8}"/>
              </a:ext>
            </a:extLst>
          </p:cNvPr>
          <p:cNvSpPr/>
          <p:nvPr/>
        </p:nvSpPr>
        <p:spPr>
          <a:xfrm>
            <a:off x="15953635" y="4793548"/>
            <a:ext cx="1061903" cy="4572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Leader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7EA3355-9D1E-E642-4A38-B5C285C324AD}"/>
              </a:ext>
            </a:extLst>
          </p:cNvPr>
          <p:cNvSpPr/>
          <p:nvPr/>
        </p:nvSpPr>
        <p:spPr>
          <a:xfrm>
            <a:off x="15544709" y="8206364"/>
            <a:ext cx="1976823" cy="4323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Follower</a:t>
            </a:r>
          </a:p>
        </p:txBody>
      </p:sp>
      <p:pic>
        <p:nvPicPr>
          <p:cNvPr id="61" name="그림 60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E0C0E2-FB7E-C24A-E7C5-A5C3BE6E350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363" y="6705687"/>
            <a:ext cx="3014552" cy="1425611"/>
          </a:xfrm>
          <a:prstGeom prst="rect">
            <a:avLst/>
          </a:prstGeom>
        </p:spPr>
      </p:pic>
      <p:sp>
        <p:nvSpPr>
          <p:cNvPr id="4097" name="직사각형 4096">
            <a:extLst>
              <a:ext uri="{FF2B5EF4-FFF2-40B4-BE49-F238E27FC236}">
                <a16:creationId xmlns:a16="http://schemas.microsoft.com/office/drawing/2014/main" id="{4AD42051-FDCB-810C-E17C-8FA0BCE80CAF}"/>
              </a:ext>
            </a:extLst>
          </p:cNvPr>
          <p:cNvSpPr/>
          <p:nvPr/>
        </p:nvSpPr>
        <p:spPr>
          <a:xfrm>
            <a:off x="4046866" y="4267649"/>
            <a:ext cx="2376264" cy="649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200" b="1" dirty="0">
                <a:solidFill>
                  <a:schemeClr val="tx1"/>
                </a:solidFill>
              </a:rPr>
              <a:t>CNN </a:t>
            </a:r>
            <a:r>
              <a:rPr lang="ko-KR" altLang="en-US" sz="2200" b="1" dirty="0">
                <a:solidFill>
                  <a:schemeClr val="tx1"/>
                </a:solidFill>
              </a:rPr>
              <a:t>의사 결정</a:t>
            </a:r>
            <a:endParaRPr lang="en-US" altLang="ko-KR" sz="2200" b="1" dirty="0">
              <a:solidFill>
                <a:schemeClr val="tx1"/>
              </a:solidFill>
            </a:endParaRPr>
          </a:p>
        </p:txBody>
      </p:sp>
      <p:pic>
        <p:nvPicPr>
          <p:cNvPr id="4114" name="그림 4113">
            <a:extLst>
              <a:ext uri="{FF2B5EF4-FFF2-40B4-BE49-F238E27FC236}">
                <a16:creationId xmlns:a16="http://schemas.microsoft.com/office/drawing/2014/main" id="{F93C6F16-302F-ECFC-AB08-AFCCF91547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016" y="6022624"/>
            <a:ext cx="3033175" cy="2487307"/>
          </a:xfrm>
          <a:prstGeom prst="rect">
            <a:avLst/>
          </a:prstGeom>
        </p:spPr>
      </p:pic>
      <p:sp>
        <p:nvSpPr>
          <p:cNvPr id="4115" name="직사각형 4114">
            <a:extLst>
              <a:ext uri="{FF2B5EF4-FFF2-40B4-BE49-F238E27FC236}">
                <a16:creationId xmlns:a16="http://schemas.microsoft.com/office/drawing/2014/main" id="{B4A2C6AA-09BA-C76F-EA21-E05F21E4CE21}"/>
              </a:ext>
            </a:extLst>
          </p:cNvPr>
          <p:cNvSpPr/>
          <p:nvPr/>
        </p:nvSpPr>
        <p:spPr>
          <a:xfrm>
            <a:off x="15910376" y="5382262"/>
            <a:ext cx="1061903" cy="833235"/>
          </a:xfrm>
          <a:prstGeom prst="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31" name="직사각형 4130">
            <a:extLst>
              <a:ext uri="{FF2B5EF4-FFF2-40B4-BE49-F238E27FC236}">
                <a16:creationId xmlns:a16="http://schemas.microsoft.com/office/drawing/2014/main" id="{784961E8-3AC8-0829-95DF-A3C6C5F17F95}"/>
              </a:ext>
            </a:extLst>
          </p:cNvPr>
          <p:cNvSpPr/>
          <p:nvPr/>
        </p:nvSpPr>
        <p:spPr>
          <a:xfrm>
            <a:off x="15445729" y="6306013"/>
            <a:ext cx="1168062" cy="1771395"/>
          </a:xfrm>
          <a:prstGeom prst="rect">
            <a:avLst/>
          </a:prstGeom>
          <a:noFill/>
          <a:ln w="63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32" name="직사각형 4131">
            <a:extLst>
              <a:ext uri="{FF2B5EF4-FFF2-40B4-BE49-F238E27FC236}">
                <a16:creationId xmlns:a16="http://schemas.microsoft.com/office/drawing/2014/main" id="{E504BD8E-9073-842D-A727-2C3F1D36A2E8}"/>
              </a:ext>
            </a:extLst>
          </p:cNvPr>
          <p:cNvSpPr/>
          <p:nvPr/>
        </p:nvSpPr>
        <p:spPr>
          <a:xfrm>
            <a:off x="19737855" y="7813162"/>
            <a:ext cx="912047" cy="3932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Obstacle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6F28BA58-9DD2-E61A-28FD-A7B1708FFB45}"/>
              </a:ext>
            </a:extLst>
          </p:cNvPr>
          <p:cNvCxnSpPr/>
          <p:nvPr/>
        </p:nvCxnSpPr>
        <p:spPr>
          <a:xfrm>
            <a:off x="17554275" y="10282130"/>
            <a:ext cx="0" cy="7416824"/>
          </a:xfrm>
          <a:prstGeom prst="line">
            <a:avLst/>
          </a:prstGeom>
          <a:ln w="28575">
            <a:solidFill>
              <a:srgbClr val="8FB24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>
            <a:extLst>
              <a:ext uri="{FF2B5EF4-FFF2-40B4-BE49-F238E27FC236}">
                <a16:creationId xmlns:a16="http://schemas.microsoft.com/office/drawing/2014/main" id="{01819B29-46F8-7954-F42B-4A69CB045B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01905" y="10472555"/>
            <a:ext cx="6647830" cy="715439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DB20CF7E-6CB4-7877-DB6A-E567AB37B5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81200" y="10217392"/>
            <a:ext cx="3640978" cy="7800129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8A73F5D2-CFC7-767D-7D9D-5F5B266C8EB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75542" y="11174572"/>
            <a:ext cx="1881923" cy="6524472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7F3A9FFC-8C24-3E40-A9A8-9D020C645EE8}"/>
              </a:ext>
            </a:extLst>
          </p:cNvPr>
          <p:cNvSpPr/>
          <p:nvPr/>
        </p:nvSpPr>
        <p:spPr>
          <a:xfrm>
            <a:off x="2341020" y="10513219"/>
            <a:ext cx="2376264" cy="6493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Leader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8421BB8-31FF-D514-DE5E-041B7F622668}"/>
              </a:ext>
            </a:extLst>
          </p:cNvPr>
          <p:cNvSpPr/>
          <p:nvPr/>
        </p:nvSpPr>
        <p:spPr>
          <a:xfrm>
            <a:off x="7552014" y="10520570"/>
            <a:ext cx="2376264" cy="6493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Follower</a:t>
            </a: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9A2A4202-ACFB-079D-7946-72CEA96AACF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0183" y="11139560"/>
            <a:ext cx="6277119" cy="6215258"/>
          </a:xfrm>
          <a:prstGeom prst="rect">
            <a:avLst/>
          </a:prstGeom>
        </p:spPr>
      </p:pic>
      <p:grpSp>
        <p:nvGrpSpPr>
          <p:cNvPr id="99" name="그룹 98">
            <a:extLst>
              <a:ext uri="{FF2B5EF4-FFF2-40B4-BE49-F238E27FC236}">
                <a16:creationId xmlns:a16="http://schemas.microsoft.com/office/drawing/2014/main" id="{C1C301EB-85CC-ADAB-4AB6-C613CDD28690}"/>
              </a:ext>
            </a:extLst>
          </p:cNvPr>
          <p:cNvGrpSpPr/>
          <p:nvPr/>
        </p:nvGrpSpPr>
        <p:grpSpPr>
          <a:xfrm>
            <a:off x="6708911" y="14408295"/>
            <a:ext cx="1189580" cy="1624182"/>
            <a:chOff x="6643716" y="14787791"/>
            <a:chExt cx="1189580" cy="1624182"/>
          </a:xfrm>
        </p:grpSpPr>
        <p:sp>
          <p:nvSpPr>
            <p:cNvPr id="83" name="모서리가 둥근 직사각형 40">
              <a:extLst>
                <a:ext uri="{FF2B5EF4-FFF2-40B4-BE49-F238E27FC236}">
                  <a16:creationId xmlns:a16="http://schemas.microsoft.com/office/drawing/2014/main" id="{D6E969C0-C2E0-E45A-961F-0BF353919A24}"/>
                </a:ext>
              </a:extLst>
            </p:cNvPr>
            <p:cNvSpPr/>
            <p:nvPr/>
          </p:nvSpPr>
          <p:spPr>
            <a:xfrm>
              <a:off x="6729055" y="14964337"/>
              <a:ext cx="1003966" cy="777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5799"/>
            </a:p>
          </p:txBody>
        </p:sp>
        <p:pic>
          <p:nvPicPr>
            <p:cNvPr id="84" name="그림 83" descr="전자 기기, 전자제품, 오디오 장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C235374-9AFC-BC4D-E15D-099451F34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644602" y="14786905"/>
              <a:ext cx="1187807" cy="1189580"/>
            </a:xfrm>
            <a:prstGeom prst="rect">
              <a:avLst/>
            </a:prstGeom>
          </p:spPr>
        </p:pic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232CBE5B-83B4-B5E9-27B1-35907F867D5F}"/>
                </a:ext>
              </a:extLst>
            </p:cNvPr>
            <p:cNvSpPr/>
            <p:nvPr/>
          </p:nvSpPr>
          <p:spPr>
            <a:xfrm>
              <a:off x="6678632" y="15762590"/>
              <a:ext cx="1131716" cy="6493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</a:rPr>
                <a:t>5G</a:t>
              </a:r>
              <a:r>
                <a:rPr lang="ko-KR" altLang="en-US" sz="16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600" b="1" dirty="0" err="1">
                  <a:solidFill>
                    <a:schemeClr val="tx1"/>
                  </a:solidFill>
                </a:rPr>
                <a:t>특화망</a:t>
              </a:r>
              <a:r>
                <a:rPr lang="ko-KR" altLang="en-US" sz="1600" b="1" dirty="0">
                  <a:solidFill>
                    <a:schemeClr val="tx1"/>
                  </a:solidFill>
                </a:rPr>
                <a:t> </a:t>
              </a:r>
              <a:endParaRPr lang="en-US" altLang="ko-KR" sz="16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600" b="1" dirty="0">
                  <a:solidFill>
                    <a:schemeClr val="tx1"/>
                  </a:solidFill>
                </a:rPr>
                <a:t>TCP </a:t>
              </a:r>
              <a:r>
                <a:rPr lang="ko-KR" altLang="en-US" sz="1600" b="1" dirty="0">
                  <a:solidFill>
                    <a:schemeClr val="tx1"/>
                  </a:solidFill>
                </a:rPr>
                <a:t>통신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5" name="그림 104">
            <a:extLst>
              <a:ext uri="{FF2B5EF4-FFF2-40B4-BE49-F238E27FC236}">
                <a16:creationId xmlns:a16="http://schemas.microsoft.com/office/drawing/2014/main" id="{FB852426-44C4-75F1-7CF1-AAA89706E32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55206" y="19058846"/>
            <a:ext cx="5539507" cy="3577985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D2FA93DE-F6D8-3D21-77D1-EBF52F58825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055816" y="18650123"/>
            <a:ext cx="2359234" cy="4351754"/>
          </a:xfrm>
          <a:prstGeom prst="rect">
            <a:avLst/>
          </a:prstGeom>
        </p:spPr>
      </p:pic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43B292C-1DC1-D020-2BAA-C94ACC363FB3}"/>
              </a:ext>
            </a:extLst>
          </p:cNvPr>
          <p:cNvCxnSpPr>
            <a:cxnSpLocks/>
          </p:cNvCxnSpPr>
          <p:nvPr/>
        </p:nvCxnSpPr>
        <p:spPr>
          <a:xfrm>
            <a:off x="17649363" y="19058846"/>
            <a:ext cx="0" cy="3943031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2CB6DFD7-E7D3-25AA-ED73-975DFBACD5F0}"/>
              </a:ext>
            </a:extLst>
          </p:cNvPr>
          <p:cNvSpPr/>
          <p:nvPr/>
        </p:nvSpPr>
        <p:spPr>
          <a:xfrm>
            <a:off x="14153594" y="19122040"/>
            <a:ext cx="3394439" cy="19849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>
                <a:solidFill>
                  <a:schemeClr val="tx1"/>
                </a:solidFill>
              </a:rPr>
              <a:t>5G </a:t>
            </a:r>
            <a:r>
              <a:rPr lang="ko-KR" altLang="en-US" sz="1600" b="1" dirty="0" err="1">
                <a:solidFill>
                  <a:schemeClr val="tx1"/>
                </a:solidFill>
              </a:rPr>
              <a:t>특화망</a:t>
            </a:r>
            <a:r>
              <a:rPr lang="ko-KR" altLang="en-US" sz="1600" b="1" dirty="0">
                <a:solidFill>
                  <a:schemeClr val="tx1"/>
                </a:solidFill>
              </a:rPr>
              <a:t> </a:t>
            </a:r>
            <a:r>
              <a:rPr lang="ko-KR" altLang="en-US" sz="1600" b="1" dirty="0" err="1">
                <a:solidFill>
                  <a:schemeClr val="tx1"/>
                </a:solidFill>
              </a:rPr>
              <a:t>저지연</a:t>
            </a:r>
            <a:r>
              <a:rPr lang="ko-KR" altLang="en-US" sz="1600" b="1" dirty="0">
                <a:solidFill>
                  <a:schemeClr val="tx1"/>
                </a:solidFill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</a:rPr>
              <a:t>V2V </a:t>
            </a:r>
            <a:r>
              <a:rPr lang="ko-KR" altLang="en-US" sz="1600" b="1" dirty="0">
                <a:solidFill>
                  <a:schemeClr val="tx1"/>
                </a:solidFill>
              </a:rPr>
              <a:t>통신</a:t>
            </a:r>
            <a:br>
              <a:rPr lang="en-US" altLang="ko-KR" sz="1600" b="1" dirty="0">
                <a:solidFill>
                  <a:schemeClr val="tx1"/>
                </a:solidFill>
              </a:rPr>
            </a:br>
            <a:endParaRPr lang="en-US" altLang="ko-KR" sz="1600" b="1" dirty="0">
              <a:solidFill>
                <a:schemeClr val="tx1"/>
              </a:solidFill>
            </a:endParaRPr>
          </a:p>
          <a:p>
            <a:r>
              <a:rPr lang="en-US" altLang="ko-KR" sz="1600" b="1" dirty="0">
                <a:solidFill>
                  <a:schemeClr val="tx1"/>
                </a:solidFill>
              </a:rPr>
              <a:t>TCP </a:t>
            </a:r>
            <a:br>
              <a:rPr lang="en-US" altLang="ko-KR" sz="1600" dirty="0">
                <a:solidFill>
                  <a:schemeClr val="tx1"/>
                </a:solidFill>
              </a:rPr>
            </a:br>
            <a:r>
              <a:rPr lang="en-US" altLang="ko-KR" sz="1600" b="1" dirty="0">
                <a:solidFill>
                  <a:schemeClr val="tx1"/>
                </a:solidFill>
              </a:rPr>
              <a:t>5G</a:t>
            </a:r>
            <a:r>
              <a:rPr lang="ko-KR" altLang="en-US" sz="1600" b="1" dirty="0">
                <a:solidFill>
                  <a:schemeClr val="tx1"/>
                </a:solidFill>
              </a:rPr>
              <a:t>망에서 지연이 낮음</a:t>
            </a:r>
            <a:br>
              <a:rPr lang="en-US" altLang="ko-KR" sz="1600" b="1" dirty="0">
                <a:solidFill>
                  <a:schemeClr val="tx1"/>
                </a:solidFill>
              </a:rPr>
            </a:br>
            <a:r>
              <a:rPr lang="en-US" altLang="ko-KR" sz="1600" dirty="0">
                <a:solidFill>
                  <a:schemeClr val="tx1"/>
                </a:solidFill>
              </a:rPr>
              <a:t>TCP ACK </a:t>
            </a:r>
            <a:r>
              <a:rPr lang="ko-KR" altLang="en-US" sz="1600" dirty="0">
                <a:solidFill>
                  <a:schemeClr val="tx1"/>
                </a:solidFill>
              </a:rPr>
              <a:t>기반 </a:t>
            </a:r>
            <a:r>
              <a:rPr lang="en-US" altLang="ko-KR" sz="1600" dirty="0">
                <a:solidFill>
                  <a:schemeClr val="tx1"/>
                </a:solidFill>
              </a:rPr>
              <a:t>Error</a:t>
            </a:r>
            <a:r>
              <a:rPr lang="ko-KR" altLang="en-US" sz="1600" dirty="0">
                <a:solidFill>
                  <a:schemeClr val="tx1"/>
                </a:solidFill>
              </a:rPr>
              <a:t>에 </a:t>
            </a:r>
            <a:r>
              <a:rPr lang="en-US" altLang="ko-KR" sz="1600" dirty="0">
                <a:solidFill>
                  <a:schemeClr val="tx1"/>
                </a:solidFill>
              </a:rPr>
              <a:t>Robust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Private 5G</a:t>
            </a:r>
            <a:r>
              <a:rPr lang="ko-KR" altLang="en-US" sz="1600" dirty="0">
                <a:solidFill>
                  <a:schemeClr val="tx1"/>
                </a:solidFill>
              </a:rPr>
              <a:t>에서 </a:t>
            </a:r>
            <a:r>
              <a:rPr lang="en-US" altLang="ko-KR" sz="1600" dirty="0">
                <a:solidFill>
                  <a:schemeClr val="tx1"/>
                </a:solidFill>
              </a:rPr>
              <a:t>RLC Acknowledged Mode + HARQ</a:t>
            </a:r>
            <a:r>
              <a:rPr lang="ko-KR" altLang="en-US" sz="1600" dirty="0">
                <a:solidFill>
                  <a:schemeClr val="tx1"/>
                </a:solidFill>
              </a:rPr>
              <a:t>로 </a:t>
            </a:r>
            <a:r>
              <a:rPr lang="en-US" altLang="ko-KR" sz="1600" dirty="0">
                <a:solidFill>
                  <a:schemeClr val="tx1"/>
                </a:solidFill>
              </a:rPr>
              <a:t>RTT 10~20ms</a:t>
            </a:r>
            <a:br>
              <a:rPr lang="en-US" altLang="ko-KR" sz="1600" dirty="0">
                <a:solidFill>
                  <a:schemeClr val="tx1"/>
                </a:solidFill>
              </a:rPr>
            </a:b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32">
            <a:extLst>
              <a:ext uri="{FF2B5EF4-FFF2-40B4-BE49-F238E27FC236}">
                <a16:creationId xmlns:a16="http://schemas.microsoft.com/office/drawing/2014/main" id="{C650793E-558F-0B5D-6F29-9241170E02EC}"/>
              </a:ext>
            </a:extLst>
          </p:cNvPr>
          <p:cNvSpPr/>
          <p:nvPr/>
        </p:nvSpPr>
        <p:spPr>
          <a:xfrm>
            <a:off x="155242" y="23940554"/>
            <a:ext cx="12300743" cy="6101290"/>
          </a:xfrm>
          <a:prstGeom prst="roundRect">
            <a:avLst>
              <a:gd name="adj" fmla="val 6710"/>
            </a:avLst>
          </a:prstGeom>
          <a:noFill/>
          <a:ln w="76200">
            <a:solidFill>
              <a:srgbClr val="8FB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99" dirty="0"/>
          </a:p>
        </p:txBody>
      </p:sp>
      <p:sp>
        <p:nvSpPr>
          <p:cNvPr id="7" name="모서리가 둥근 직사각형 4">
            <a:extLst>
              <a:ext uri="{FF2B5EF4-FFF2-40B4-BE49-F238E27FC236}">
                <a16:creationId xmlns:a16="http://schemas.microsoft.com/office/drawing/2014/main" id="{82EEE313-8B78-6FE9-943E-85B86FBCF7A1}"/>
              </a:ext>
            </a:extLst>
          </p:cNvPr>
          <p:cNvSpPr/>
          <p:nvPr/>
        </p:nvSpPr>
        <p:spPr>
          <a:xfrm>
            <a:off x="630392" y="23580600"/>
            <a:ext cx="3654865" cy="886285"/>
          </a:xfrm>
          <a:prstGeom prst="roundRect">
            <a:avLst/>
          </a:prstGeom>
          <a:solidFill>
            <a:srgbClr val="9CBD5B"/>
          </a:solidFill>
          <a:ln w="12700">
            <a:solidFill>
              <a:srgbClr val="9CBD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3. Performance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32">
            <a:extLst>
              <a:ext uri="{FF2B5EF4-FFF2-40B4-BE49-F238E27FC236}">
                <a16:creationId xmlns:a16="http://schemas.microsoft.com/office/drawing/2014/main" id="{71A28D22-A535-6714-A5A3-CFB61012A593}"/>
              </a:ext>
            </a:extLst>
          </p:cNvPr>
          <p:cNvSpPr/>
          <p:nvPr/>
        </p:nvSpPr>
        <p:spPr>
          <a:xfrm>
            <a:off x="12680914" y="23955927"/>
            <a:ext cx="8407769" cy="6099815"/>
          </a:xfrm>
          <a:prstGeom prst="roundRect">
            <a:avLst>
              <a:gd name="adj" fmla="val 6710"/>
            </a:avLst>
          </a:prstGeom>
          <a:noFill/>
          <a:ln w="76200">
            <a:solidFill>
              <a:srgbClr val="8FB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5799" dirty="0"/>
          </a:p>
        </p:txBody>
      </p:sp>
      <p:sp>
        <p:nvSpPr>
          <p:cNvPr id="24" name="모서리가 둥근 직사각형 4">
            <a:extLst>
              <a:ext uri="{FF2B5EF4-FFF2-40B4-BE49-F238E27FC236}">
                <a16:creationId xmlns:a16="http://schemas.microsoft.com/office/drawing/2014/main" id="{A0008E1C-400D-98D4-F9CB-5A4203999A05}"/>
              </a:ext>
            </a:extLst>
          </p:cNvPr>
          <p:cNvSpPr/>
          <p:nvPr/>
        </p:nvSpPr>
        <p:spPr>
          <a:xfrm>
            <a:off x="13017649" y="23590767"/>
            <a:ext cx="3410434" cy="893078"/>
          </a:xfrm>
          <a:prstGeom prst="roundRect">
            <a:avLst/>
          </a:prstGeom>
          <a:solidFill>
            <a:srgbClr val="9CBD5B"/>
          </a:solidFill>
          <a:ln w="12700">
            <a:solidFill>
              <a:srgbClr val="9CBD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4. Application</a:t>
            </a:r>
          </a:p>
        </p:txBody>
      </p:sp>
      <p:sp>
        <p:nvSpPr>
          <p:cNvPr id="25" name="모서리가 둥근 직사각형 4">
            <a:extLst>
              <a:ext uri="{FF2B5EF4-FFF2-40B4-BE49-F238E27FC236}">
                <a16:creationId xmlns:a16="http://schemas.microsoft.com/office/drawing/2014/main" id="{8BA0D05C-CD6C-67EA-ABD5-E7F5A018E0F5}"/>
              </a:ext>
            </a:extLst>
          </p:cNvPr>
          <p:cNvSpPr/>
          <p:nvPr/>
        </p:nvSpPr>
        <p:spPr>
          <a:xfrm>
            <a:off x="601501" y="9073059"/>
            <a:ext cx="3654865" cy="760779"/>
          </a:xfrm>
          <a:prstGeom prst="roundRect">
            <a:avLst/>
          </a:prstGeom>
          <a:solidFill>
            <a:srgbClr val="9CBD5B"/>
          </a:solidFill>
          <a:ln w="12700">
            <a:solidFill>
              <a:srgbClr val="9CBD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tx1"/>
                </a:solidFill>
              </a:rPr>
              <a:t>2. Design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9A19C7E-9406-8875-D74F-B00A57EC48D5}"/>
              </a:ext>
            </a:extLst>
          </p:cNvPr>
          <p:cNvCxnSpPr>
            <a:cxnSpLocks/>
          </p:cNvCxnSpPr>
          <p:nvPr/>
        </p:nvCxnSpPr>
        <p:spPr>
          <a:xfrm>
            <a:off x="7044640" y="3121574"/>
            <a:ext cx="0" cy="5802101"/>
          </a:xfrm>
          <a:prstGeom prst="line">
            <a:avLst/>
          </a:prstGeom>
          <a:ln w="76200">
            <a:solidFill>
              <a:srgbClr val="8FB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857B72E-0318-CCEA-BA83-AF8D56435A64}"/>
              </a:ext>
            </a:extLst>
          </p:cNvPr>
          <p:cNvSpPr txBox="1"/>
          <p:nvPr/>
        </p:nvSpPr>
        <p:spPr>
          <a:xfrm>
            <a:off x="882623" y="3687487"/>
            <a:ext cx="554440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500" b="1" dirty="0">
                <a:solidFill>
                  <a:schemeClr val="tx1"/>
                </a:solidFill>
                <a:latin typeface="+mn-lt"/>
              </a:rPr>
              <a:t>1-1. Components of a system</a:t>
            </a:r>
            <a:endParaRPr lang="ko-KR" altLang="en-US" sz="25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DB27967B-B690-2AF8-9E8E-FC088DE9652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24392" y="6001646"/>
            <a:ext cx="3034029" cy="2513502"/>
          </a:xfrm>
          <a:prstGeom prst="rect">
            <a:avLst/>
          </a:prstGeom>
        </p:spPr>
      </p:pic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EF35C18A-110F-D2BC-8EED-C61ED750CCAD}"/>
              </a:ext>
            </a:extLst>
          </p:cNvPr>
          <p:cNvSpPr/>
          <p:nvPr/>
        </p:nvSpPr>
        <p:spPr>
          <a:xfrm>
            <a:off x="7449924" y="4638979"/>
            <a:ext cx="6916454" cy="4104671"/>
          </a:xfrm>
          <a:prstGeom prst="roundRect">
            <a:avLst/>
          </a:prstGeom>
          <a:noFill/>
          <a:ln w="38100">
            <a:solidFill>
              <a:srgbClr val="8FB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CC850C6-93EB-4B4D-5ED9-DC8E6DC06AA4}"/>
              </a:ext>
            </a:extLst>
          </p:cNvPr>
          <p:cNvSpPr/>
          <p:nvPr/>
        </p:nvSpPr>
        <p:spPr>
          <a:xfrm>
            <a:off x="9854619" y="4392540"/>
            <a:ext cx="1861340" cy="446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chemeClr val="tx1"/>
                </a:solidFill>
              </a:rPr>
              <a:t>기술적 특징</a:t>
            </a:r>
            <a:endParaRPr lang="en-US" altLang="ko-KR" sz="2200" b="1" dirty="0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4A222F-B055-99C0-53C9-F7C0E0A98317}"/>
              </a:ext>
            </a:extLst>
          </p:cNvPr>
          <p:cNvSpPr txBox="1"/>
          <p:nvPr/>
        </p:nvSpPr>
        <p:spPr>
          <a:xfrm>
            <a:off x="744643" y="4908934"/>
            <a:ext cx="238767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dirty="0">
                <a:latin typeface="+mn-ea"/>
                <a:ea typeface="+mn-ea"/>
              </a:rPr>
              <a:t>V2V</a:t>
            </a:r>
            <a:r>
              <a:rPr lang="ko-KR" altLang="en-US" sz="1800" dirty="0">
                <a:latin typeface="+mn-ea"/>
                <a:ea typeface="+mn-ea"/>
              </a:rPr>
              <a:t> 통신으로 도로 상황 공유</a:t>
            </a:r>
            <a:r>
              <a:rPr lang="ko-KR" altLang="en-US" sz="1800" dirty="0">
                <a:latin typeface="+mn-lt"/>
              </a:rPr>
              <a:t> </a:t>
            </a:r>
            <a:r>
              <a:rPr lang="en-US" altLang="ko-KR" sz="1800" dirty="0">
                <a:latin typeface="+mn-lt"/>
              </a:rPr>
              <a:t>-&gt; </a:t>
            </a:r>
            <a:r>
              <a:rPr lang="ko-KR" altLang="en-US" sz="1800" b="1" dirty="0">
                <a:latin typeface="+mn-ea"/>
                <a:ea typeface="+mn-ea"/>
              </a:rPr>
              <a:t>다차원 의사 결정 가능</a:t>
            </a:r>
            <a:endParaRPr lang="en-US" altLang="ko-KR" sz="1800" b="1" dirty="0">
              <a:latin typeface="+mn-ea"/>
              <a:ea typeface="+mn-ea"/>
            </a:endParaRPr>
          </a:p>
          <a:p>
            <a:pPr algn="ctr"/>
            <a:r>
              <a:rPr lang="ko-KR" altLang="en-US" sz="1800" b="1" dirty="0">
                <a:latin typeface="+mn-ea"/>
                <a:ea typeface="+mn-ea"/>
              </a:rPr>
              <a:t>교통 흐름 개선</a:t>
            </a:r>
            <a:r>
              <a:rPr lang="en-US" altLang="ko-KR" sz="1800" b="1" dirty="0">
                <a:latin typeface="+mn-ea"/>
                <a:ea typeface="+mn-ea"/>
              </a:rPr>
              <a:t>, </a:t>
            </a:r>
            <a:r>
              <a:rPr lang="ko-KR" altLang="en-US" sz="1800" b="1" dirty="0">
                <a:latin typeface="+mn-ea"/>
                <a:ea typeface="+mn-ea"/>
              </a:rPr>
              <a:t>연료 절감</a:t>
            </a:r>
            <a:r>
              <a:rPr lang="en-US" altLang="ko-KR" sz="1800" b="1" dirty="0">
                <a:latin typeface="+mn-ea"/>
                <a:ea typeface="+mn-ea"/>
              </a:rPr>
              <a:t>, </a:t>
            </a:r>
            <a:r>
              <a:rPr lang="ko-KR" altLang="en-US" sz="1800" b="1" dirty="0">
                <a:latin typeface="+mn-ea"/>
                <a:ea typeface="+mn-ea"/>
              </a:rPr>
              <a:t>인건비</a:t>
            </a:r>
            <a:r>
              <a:rPr lang="ko-KR" altLang="en-US" sz="1600" b="1" dirty="0">
                <a:latin typeface="+mn-ea"/>
                <a:ea typeface="+mn-ea"/>
              </a:rPr>
              <a:t> </a:t>
            </a:r>
            <a:r>
              <a:rPr lang="ko-KR" altLang="en-US" sz="1800" b="1" dirty="0">
                <a:latin typeface="+mn-ea"/>
                <a:ea typeface="+mn-ea"/>
              </a:rPr>
              <a:t>절약</a:t>
            </a:r>
            <a:endParaRPr lang="en-US" altLang="ko-KR" sz="1800" b="1" dirty="0">
              <a:latin typeface="+mn-ea"/>
              <a:ea typeface="+mn-ea"/>
            </a:endParaRPr>
          </a:p>
          <a:p>
            <a:endParaRPr lang="ko-KR" altLang="en-US" sz="14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38998E-AB08-3D7A-323C-B7B6C1DA383C}"/>
              </a:ext>
            </a:extLst>
          </p:cNvPr>
          <p:cNvSpPr txBox="1"/>
          <p:nvPr/>
        </p:nvSpPr>
        <p:spPr>
          <a:xfrm>
            <a:off x="3956620" y="4910805"/>
            <a:ext cx="250735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latin typeface="+mn-ea"/>
                <a:ea typeface="+mn-ea"/>
              </a:rPr>
              <a:t>If-else</a:t>
            </a:r>
            <a:r>
              <a:rPr lang="ko-KR" altLang="en-US" sz="1800" b="1" dirty="0">
                <a:latin typeface="+mn-ea"/>
                <a:ea typeface="+mn-ea"/>
              </a:rPr>
              <a:t>문보다 </a:t>
            </a:r>
            <a:br>
              <a:rPr lang="ko-KR" altLang="en-US" sz="1800" b="1" dirty="0">
                <a:latin typeface="+mn-ea"/>
                <a:ea typeface="+mn-ea"/>
              </a:rPr>
            </a:br>
            <a:r>
              <a:rPr lang="ko-KR" altLang="en-US" sz="1800" b="1" dirty="0">
                <a:latin typeface="+mn-ea"/>
                <a:ea typeface="+mn-ea"/>
              </a:rPr>
              <a:t>다양한 주행 분류 가능</a:t>
            </a:r>
          </a:p>
          <a:p>
            <a:pPr algn="ctr"/>
            <a:r>
              <a:rPr lang="en-US" altLang="ko-KR" sz="1800" dirty="0">
                <a:latin typeface="+mn-ea"/>
                <a:ea typeface="+mn-ea"/>
              </a:rPr>
              <a:t>ACC, </a:t>
            </a:r>
            <a:r>
              <a:rPr lang="ko-KR" altLang="en-US" sz="1800" dirty="0">
                <a:latin typeface="+mn-ea"/>
                <a:ea typeface="+mn-ea"/>
              </a:rPr>
              <a:t>추월</a:t>
            </a:r>
            <a:r>
              <a:rPr lang="en-US" altLang="ko-KR" sz="1800" dirty="0">
                <a:latin typeface="+mn-ea"/>
                <a:ea typeface="+mn-ea"/>
              </a:rPr>
              <a:t>, </a:t>
            </a:r>
            <a:r>
              <a:rPr lang="ko-KR" altLang="en-US" sz="1800" dirty="0">
                <a:latin typeface="+mn-ea"/>
                <a:ea typeface="+mn-ea"/>
              </a:rPr>
              <a:t>간격 유지</a:t>
            </a:r>
            <a:r>
              <a:rPr lang="en-US" altLang="ko-KR" sz="1800" dirty="0">
                <a:latin typeface="+mn-ea"/>
                <a:ea typeface="+mn-ea"/>
              </a:rPr>
              <a:t>, </a:t>
            </a:r>
            <a:r>
              <a:rPr lang="ko-KR" altLang="en-US" sz="1800" dirty="0">
                <a:latin typeface="+mn-ea"/>
                <a:ea typeface="+mn-ea"/>
              </a:rPr>
              <a:t>리더 교체 등 </a:t>
            </a:r>
            <a:r>
              <a:rPr lang="en-US" altLang="ko-KR" sz="1800" dirty="0">
                <a:latin typeface="+mn-ea"/>
                <a:ea typeface="+mn-ea"/>
              </a:rPr>
              <a:t>Action Decision</a:t>
            </a:r>
          </a:p>
          <a:p>
            <a:endParaRPr lang="ko-KR" altLang="en-US" sz="14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3EB47B0-4C4B-246D-7409-7FE0DF0743C6}"/>
              </a:ext>
            </a:extLst>
          </p:cNvPr>
          <p:cNvSpPr txBox="1"/>
          <p:nvPr/>
        </p:nvSpPr>
        <p:spPr>
          <a:xfrm>
            <a:off x="16414353" y="3354524"/>
            <a:ext cx="290981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500" b="1" dirty="0">
                <a:solidFill>
                  <a:schemeClr val="tx1"/>
                </a:solidFill>
                <a:latin typeface="+mn-lt"/>
              </a:rPr>
              <a:t>1-3. Structure</a:t>
            </a:r>
          </a:p>
        </p:txBody>
      </p:sp>
      <p:sp>
        <p:nvSpPr>
          <p:cNvPr id="4096" name="TextBox 4095">
            <a:extLst>
              <a:ext uri="{FF2B5EF4-FFF2-40B4-BE49-F238E27FC236}">
                <a16:creationId xmlns:a16="http://schemas.microsoft.com/office/drawing/2014/main" id="{FE748EC0-B3DE-20A7-2EAE-509513ED1FDC}"/>
              </a:ext>
            </a:extLst>
          </p:cNvPr>
          <p:cNvSpPr txBox="1"/>
          <p:nvPr/>
        </p:nvSpPr>
        <p:spPr>
          <a:xfrm>
            <a:off x="498003" y="10033969"/>
            <a:ext cx="3061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tx1"/>
                </a:solidFill>
                <a:latin typeface="+mn-lt"/>
              </a:rPr>
              <a:t>2-1. Flow Chart</a:t>
            </a:r>
          </a:p>
        </p:txBody>
      </p:sp>
      <p:cxnSp>
        <p:nvCxnSpPr>
          <p:cNvPr id="4102" name="직선 연결선 4101">
            <a:extLst>
              <a:ext uri="{FF2B5EF4-FFF2-40B4-BE49-F238E27FC236}">
                <a16:creationId xmlns:a16="http://schemas.microsoft.com/office/drawing/2014/main" id="{A6A081BA-5D99-55D3-CE31-32EE36F5B6F8}"/>
              </a:ext>
            </a:extLst>
          </p:cNvPr>
          <p:cNvCxnSpPr>
            <a:cxnSpLocks/>
          </p:cNvCxnSpPr>
          <p:nvPr/>
        </p:nvCxnSpPr>
        <p:spPr>
          <a:xfrm>
            <a:off x="14764975" y="3121574"/>
            <a:ext cx="0" cy="5802101"/>
          </a:xfrm>
          <a:prstGeom prst="line">
            <a:avLst/>
          </a:prstGeom>
          <a:ln w="76200">
            <a:solidFill>
              <a:srgbClr val="8FB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3" name="직선 연결선 4102">
            <a:extLst>
              <a:ext uri="{FF2B5EF4-FFF2-40B4-BE49-F238E27FC236}">
                <a16:creationId xmlns:a16="http://schemas.microsoft.com/office/drawing/2014/main" id="{97329FCA-4044-A7F3-4B37-9591FD1A400D}"/>
              </a:ext>
            </a:extLst>
          </p:cNvPr>
          <p:cNvCxnSpPr>
            <a:cxnSpLocks/>
          </p:cNvCxnSpPr>
          <p:nvPr/>
        </p:nvCxnSpPr>
        <p:spPr>
          <a:xfrm>
            <a:off x="10189914" y="9520673"/>
            <a:ext cx="0" cy="8409370"/>
          </a:xfrm>
          <a:prstGeom prst="line">
            <a:avLst/>
          </a:prstGeom>
          <a:ln w="76200">
            <a:solidFill>
              <a:srgbClr val="8FB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6" name="직선 연결선 4105">
            <a:extLst>
              <a:ext uri="{FF2B5EF4-FFF2-40B4-BE49-F238E27FC236}">
                <a16:creationId xmlns:a16="http://schemas.microsoft.com/office/drawing/2014/main" id="{3E865822-A21F-A0BB-2D93-DB46799FD7B0}"/>
              </a:ext>
            </a:extLst>
          </p:cNvPr>
          <p:cNvCxnSpPr>
            <a:cxnSpLocks/>
          </p:cNvCxnSpPr>
          <p:nvPr/>
        </p:nvCxnSpPr>
        <p:spPr>
          <a:xfrm>
            <a:off x="165573" y="17930043"/>
            <a:ext cx="20916272" cy="0"/>
          </a:xfrm>
          <a:prstGeom prst="line">
            <a:avLst/>
          </a:prstGeom>
          <a:ln w="76200">
            <a:solidFill>
              <a:srgbClr val="8FB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6" name="TextBox 4115">
            <a:extLst>
              <a:ext uri="{FF2B5EF4-FFF2-40B4-BE49-F238E27FC236}">
                <a16:creationId xmlns:a16="http://schemas.microsoft.com/office/drawing/2014/main" id="{2B0C87D6-9C3E-9C0A-80CB-0D590B030AD9}"/>
              </a:ext>
            </a:extLst>
          </p:cNvPr>
          <p:cNvSpPr txBox="1"/>
          <p:nvPr/>
        </p:nvSpPr>
        <p:spPr>
          <a:xfrm>
            <a:off x="10478254" y="9703526"/>
            <a:ext cx="49674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tx1"/>
                </a:solidFill>
                <a:latin typeface="+mn-lt"/>
              </a:rPr>
              <a:t>2-2. Situation Recognition</a:t>
            </a:r>
          </a:p>
        </p:txBody>
      </p:sp>
      <p:sp>
        <p:nvSpPr>
          <p:cNvPr id="4117" name="TextBox 4116">
            <a:extLst>
              <a:ext uri="{FF2B5EF4-FFF2-40B4-BE49-F238E27FC236}">
                <a16:creationId xmlns:a16="http://schemas.microsoft.com/office/drawing/2014/main" id="{632F798F-911B-E573-9AA7-FF3B5BE3DC54}"/>
              </a:ext>
            </a:extLst>
          </p:cNvPr>
          <p:cNvSpPr txBox="1"/>
          <p:nvPr/>
        </p:nvSpPr>
        <p:spPr>
          <a:xfrm>
            <a:off x="17417357" y="9705181"/>
            <a:ext cx="36713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tx1"/>
                </a:solidFill>
                <a:latin typeface="+mn-lt"/>
              </a:rPr>
              <a:t>2-3. Lane Tracking</a:t>
            </a:r>
          </a:p>
        </p:txBody>
      </p:sp>
      <p:cxnSp>
        <p:nvCxnSpPr>
          <p:cNvPr id="4118" name="직선 연결선 4117">
            <a:extLst>
              <a:ext uri="{FF2B5EF4-FFF2-40B4-BE49-F238E27FC236}">
                <a16:creationId xmlns:a16="http://schemas.microsoft.com/office/drawing/2014/main" id="{576F25A7-2A1B-D4D3-8DB4-3C111133FC69}"/>
              </a:ext>
            </a:extLst>
          </p:cNvPr>
          <p:cNvCxnSpPr>
            <a:cxnSpLocks/>
          </p:cNvCxnSpPr>
          <p:nvPr/>
        </p:nvCxnSpPr>
        <p:spPr>
          <a:xfrm>
            <a:off x="11179164" y="17971352"/>
            <a:ext cx="32036" cy="5425908"/>
          </a:xfrm>
          <a:prstGeom prst="line">
            <a:avLst/>
          </a:prstGeom>
          <a:ln w="76200">
            <a:solidFill>
              <a:srgbClr val="8FB24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0" name="TextBox 4119">
            <a:extLst>
              <a:ext uri="{FF2B5EF4-FFF2-40B4-BE49-F238E27FC236}">
                <a16:creationId xmlns:a16="http://schemas.microsoft.com/office/drawing/2014/main" id="{C0E61C4A-8B16-9F70-1D1D-8BCA26B3EA44}"/>
              </a:ext>
            </a:extLst>
          </p:cNvPr>
          <p:cNvSpPr txBox="1"/>
          <p:nvPr/>
        </p:nvSpPr>
        <p:spPr>
          <a:xfrm>
            <a:off x="11363374" y="18133432"/>
            <a:ext cx="62585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tx1"/>
                </a:solidFill>
                <a:latin typeface="+mn-lt"/>
              </a:rPr>
              <a:t>2-5. 5G V2V Networking Protocol</a:t>
            </a:r>
          </a:p>
        </p:txBody>
      </p:sp>
      <p:sp>
        <p:nvSpPr>
          <p:cNvPr id="4121" name="TextBox 4120">
            <a:extLst>
              <a:ext uri="{FF2B5EF4-FFF2-40B4-BE49-F238E27FC236}">
                <a16:creationId xmlns:a16="http://schemas.microsoft.com/office/drawing/2014/main" id="{779504EE-2DC8-14DC-93C8-A9E2F4A025A5}"/>
              </a:ext>
            </a:extLst>
          </p:cNvPr>
          <p:cNvSpPr txBox="1"/>
          <p:nvPr/>
        </p:nvSpPr>
        <p:spPr>
          <a:xfrm>
            <a:off x="274132" y="18114821"/>
            <a:ext cx="73649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tx1"/>
                </a:solidFill>
                <a:latin typeface="+mn-lt"/>
              </a:rPr>
              <a:t>2-4. CNN-Based Situation Classification</a:t>
            </a:r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CC2A6BE4-1E36-1272-D5A6-B78F2A1A2E3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65978" y="14257635"/>
            <a:ext cx="2757215" cy="2448272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F890CF64-C60A-EC82-866E-646D94D286E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6644" y="6594089"/>
            <a:ext cx="2730762" cy="1659567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C1ED7D5D-4790-23AF-70ED-CEDB01D2632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8355" y="25306001"/>
            <a:ext cx="3445365" cy="3631775"/>
          </a:xfrm>
          <a:prstGeom prst="rect">
            <a:avLst/>
          </a:prstGeom>
        </p:spPr>
      </p:pic>
      <p:pic>
        <p:nvPicPr>
          <p:cNvPr id="116" name="그림 115">
            <a:extLst>
              <a:ext uri="{FF2B5EF4-FFF2-40B4-BE49-F238E27FC236}">
                <a16:creationId xmlns:a16="http://schemas.microsoft.com/office/drawing/2014/main" id="{48C9AF02-463F-7CB3-5580-51D3AC68799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04120" y="24986827"/>
            <a:ext cx="6274026" cy="2110353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57F8D452-628A-0FA7-4797-4F3363B3C882}"/>
              </a:ext>
            </a:extLst>
          </p:cNvPr>
          <p:cNvSpPr txBox="1"/>
          <p:nvPr/>
        </p:nvSpPr>
        <p:spPr>
          <a:xfrm>
            <a:off x="385879" y="24770803"/>
            <a:ext cx="49852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800" b="1" dirty="0">
                <a:latin typeface="+mn-ea"/>
                <a:ea typeface="+mn-ea"/>
              </a:rPr>
              <a:t>3-1. Lane Tracking</a:t>
            </a:r>
            <a:r>
              <a:rPr lang="ko-KR" altLang="en-US" sz="2800" b="1" dirty="0">
                <a:latin typeface="+mn-ea"/>
                <a:ea typeface="+mn-ea"/>
              </a:rPr>
              <a:t> </a:t>
            </a:r>
            <a:r>
              <a:rPr lang="en-US" altLang="ko-KR" sz="2800" b="1" dirty="0">
                <a:latin typeface="+mn-ea"/>
                <a:ea typeface="+mn-ea"/>
              </a:rPr>
              <a:t>Accuracy</a:t>
            </a:r>
            <a:endParaRPr lang="en-US" altLang="ko-KR" sz="2800" dirty="0">
              <a:latin typeface="+mn-ea"/>
              <a:ea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0929560-CF34-706F-512C-ADF0CF098759}"/>
              </a:ext>
            </a:extLst>
          </p:cNvPr>
          <p:cNvSpPr txBox="1"/>
          <p:nvPr/>
        </p:nvSpPr>
        <p:spPr>
          <a:xfrm>
            <a:off x="5133929" y="24200298"/>
            <a:ext cx="7883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2800" b="1" dirty="0">
                <a:latin typeface="+mn-ea"/>
                <a:ea typeface="+mn-ea"/>
              </a:rPr>
              <a:t>3-2. Driving Mode</a:t>
            </a:r>
            <a:r>
              <a:rPr lang="ko-KR" altLang="en-US" sz="2800" b="1" dirty="0">
                <a:latin typeface="+mn-ea"/>
                <a:ea typeface="+mn-ea"/>
              </a:rPr>
              <a:t> </a:t>
            </a:r>
            <a:endParaRPr lang="en-US" altLang="ko-KR" sz="2800" b="1" dirty="0">
              <a:latin typeface="+mn-ea"/>
              <a:ea typeface="+mn-ea"/>
            </a:endParaRPr>
          </a:p>
          <a:p>
            <a:pPr algn="ctr">
              <a:buNone/>
            </a:pPr>
            <a:r>
              <a:rPr lang="en-US" altLang="ko-KR" sz="2800" b="1" dirty="0">
                <a:latin typeface="+mn-ea"/>
                <a:ea typeface="+mn-ea"/>
              </a:rPr>
              <a:t>Classification Performance</a:t>
            </a:r>
            <a:endParaRPr lang="en-US" altLang="ko-KR" sz="2800" dirty="0">
              <a:latin typeface="+mn-ea"/>
              <a:ea typeface="+mn-ea"/>
            </a:endParaRPr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3DC61D26-2FB7-3AC3-1AFE-21F81D1210F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4911" y="19122040"/>
            <a:ext cx="5514252" cy="3764537"/>
          </a:xfrm>
          <a:prstGeom prst="rect">
            <a:avLst/>
          </a:prstGeom>
        </p:spPr>
      </p:pic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D1EBB41A-9B18-273D-9BA9-E9D9CBF1395F}"/>
              </a:ext>
            </a:extLst>
          </p:cNvPr>
          <p:cNvCxnSpPr>
            <a:cxnSpLocks/>
          </p:cNvCxnSpPr>
          <p:nvPr/>
        </p:nvCxnSpPr>
        <p:spPr>
          <a:xfrm>
            <a:off x="5509394" y="24855138"/>
            <a:ext cx="0" cy="4850580"/>
          </a:xfrm>
          <a:prstGeom prst="line">
            <a:avLst/>
          </a:prstGeom>
          <a:ln w="28575">
            <a:solidFill>
              <a:srgbClr val="8FB24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92E1373D-8760-849D-960B-B18902BF97EF}"/>
              </a:ext>
            </a:extLst>
          </p:cNvPr>
          <p:cNvSpPr txBox="1"/>
          <p:nvPr/>
        </p:nvSpPr>
        <p:spPr>
          <a:xfrm>
            <a:off x="5802361" y="28841579"/>
            <a:ext cx="65564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+mn-ea"/>
                <a:ea typeface="+mn-ea"/>
                <a:sym typeface="Wingdings" panose="05000000000000000000" pitchFamily="2" charset="2"/>
              </a:rPr>
              <a:t>표는 </a:t>
            </a:r>
            <a:r>
              <a:rPr lang="en-US" altLang="ko-KR" sz="1500" dirty="0">
                <a:latin typeface="+mn-ea"/>
                <a:ea typeface="+mn-ea"/>
                <a:sym typeface="Wingdings" panose="05000000000000000000" pitchFamily="2" charset="2"/>
              </a:rPr>
              <a:t>CNN </a:t>
            </a:r>
            <a:r>
              <a:rPr lang="ko-KR" altLang="en-US" sz="1500" dirty="0">
                <a:latin typeface="+mn-ea"/>
                <a:ea typeface="+mn-ea"/>
                <a:sym typeface="Wingdings" panose="05000000000000000000" pitchFamily="2" charset="2"/>
              </a:rPr>
              <a:t>기반 </a:t>
            </a:r>
            <a:r>
              <a:rPr lang="en-US" altLang="ko-KR" sz="1500" dirty="0">
                <a:latin typeface="+mn-ea"/>
                <a:ea typeface="+mn-ea"/>
                <a:sym typeface="Wingdings" panose="05000000000000000000" pitchFamily="2" charset="2"/>
              </a:rPr>
              <a:t>Driving Mode Classification</a:t>
            </a:r>
            <a:r>
              <a:rPr lang="ko-KR" altLang="en-US" sz="1500" dirty="0">
                <a:latin typeface="+mn-ea"/>
                <a:ea typeface="+mn-ea"/>
                <a:sym typeface="Wingdings" panose="05000000000000000000" pitchFamily="2" charset="2"/>
              </a:rPr>
              <a:t>의 성능을 나타낸다</a:t>
            </a:r>
            <a:r>
              <a:rPr lang="en-US" altLang="ko-KR" sz="1500" dirty="0">
                <a:latin typeface="+mn-ea"/>
                <a:ea typeface="+mn-ea"/>
                <a:sym typeface="Wingdings" panose="05000000000000000000" pitchFamily="2" charset="2"/>
              </a:rPr>
              <a:t>. Normal </a:t>
            </a:r>
            <a:r>
              <a:rPr lang="ko-KR" altLang="en-US" sz="1500" dirty="0">
                <a:latin typeface="+mn-ea"/>
                <a:ea typeface="+mn-ea"/>
                <a:sym typeface="Wingdings" panose="05000000000000000000" pitchFamily="2" charset="2"/>
              </a:rPr>
              <a:t>모드에서 가장 높은 정확도를 보였으며</a:t>
            </a:r>
            <a:r>
              <a:rPr lang="en-US" altLang="ko-KR" sz="1500" dirty="0">
                <a:latin typeface="+mn-ea"/>
                <a:ea typeface="+mn-ea"/>
                <a:sym typeface="Wingdings" panose="05000000000000000000" pitchFamily="2" charset="2"/>
              </a:rPr>
              <a:t>, Spacing</a:t>
            </a:r>
            <a:r>
              <a:rPr lang="ko-KR" altLang="en-US" sz="1500" dirty="0">
                <a:latin typeface="+mn-ea"/>
                <a:ea typeface="+mn-ea"/>
                <a:sym typeface="Wingdings" panose="05000000000000000000" pitchFamily="2" charset="2"/>
              </a:rPr>
              <a:t>과 </a:t>
            </a:r>
            <a:r>
              <a:rPr lang="en-US" altLang="ko-KR" sz="1500" dirty="0">
                <a:latin typeface="+mn-ea"/>
                <a:ea typeface="+mn-ea"/>
                <a:sym typeface="Wingdings" panose="05000000000000000000" pitchFamily="2" charset="2"/>
              </a:rPr>
              <a:t>Overtake </a:t>
            </a:r>
            <a:r>
              <a:rPr lang="ko-KR" altLang="en-US" sz="1500" dirty="0">
                <a:latin typeface="+mn-ea"/>
                <a:ea typeface="+mn-ea"/>
                <a:sym typeface="Wingdings" panose="05000000000000000000" pitchFamily="2" charset="2"/>
              </a:rPr>
              <a:t>모드 역시 전반적으로 안정적인 분류 결과를 보였다</a:t>
            </a:r>
            <a:r>
              <a:rPr lang="en-US" altLang="ko-KR" sz="1500" dirty="0">
                <a:latin typeface="+mn-ea"/>
                <a:ea typeface="+mn-ea"/>
                <a:sym typeface="Wingdings" panose="05000000000000000000" pitchFamily="2" charset="2"/>
              </a:rPr>
              <a:t>. </a:t>
            </a:r>
            <a:r>
              <a:rPr lang="ko-KR" altLang="en-US" sz="1500" dirty="0">
                <a:latin typeface="+mn-ea"/>
                <a:ea typeface="+mn-ea"/>
                <a:sym typeface="Wingdings" panose="05000000000000000000" pitchFamily="2" charset="2"/>
              </a:rPr>
              <a:t>이는 모델이 다양한 주행 상황을 균형 있게 인식함을 확인할 수 있다</a:t>
            </a:r>
            <a:r>
              <a:rPr lang="en-US" altLang="ko-KR" sz="1500" dirty="0">
                <a:latin typeface="+mn-ea"/>
                <a:ea typeface="+mn-ea"/>
                <a:sym typeface="Wingdings" panose="05000000000000000000" pitchFamily="2" charset="2"/>
              </a:rPr>
              <a:t>.</a:t>
            </a:r>
            <a:endParaRPr lang="ko-KR" altLang="en-US" sz="1500" dirty="0">
              <a:latin typeface="+mn-ea"/>
              <a:ea typeface="+mn-ea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4F6FA53-53DB-D891-BCD1-A926A0A41E29}"/>
              </a:ext>
            </a:extLst>
          </p:cNvPr>
          <p:cNvSpPr txBox="1"/>
          <p:nvPr/>
        </p:nvSpPr>
        <p:spPr>
          <a:xfrm>
            <a:off x="315354" y="28916695"/>
            <a:ext cx="51940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+mn-ea"/>
                <a:ea typeface="+mn-ea"/>
                <a:sym typeface="Wingdings" panose="05000000000000000000" pitchFamily="2" charset="2"/>
              </a:rPr>
              <a:t>이상적인 </a:t>
            </a:r>
            <a:r>
              <a:rPr lang="en-US" altLang="ko-KR" sz="1500" dirty="0">
                <a:latin typeface="+mn-ea"/>
                <a:ea typeface="+mn-ea"/>
                <a:sym typeface="Wingdings" panose="05000000000000000000" pitchFamily="2" charset="2"/>
              </a:rPr>
              <a:t>Lane Tracking </a:t>
            </a:r>
            <a:r>
              <a:rPr lang="ko-KR" altLang="en-US" sz="1500" dirty="0">
                <a:latin typeface="+mn-ea"/>
                <a:ea typeface="+mn-ea"/>
                <a:sym typeface="Wingdings" panose="05000000000000000000" pitchFamily="2" charset="2"/>
              </a:rPr>
              <a:t>결과와 비교했을 때 실제 주행에서의 편차가 매우 작게 나타난다</a:t>
            </a:r>
            <a:r>
              <a:rPr lang="en-US" altLang="ko-KR" sz="1500" dirty="0">
                <a:latin typeface="+mn-ea"/>
                <a:ea typeface="+mn-ea"/>
                <a:sym typeface="Wingdings" panose="05000000000000000000" pitchFamily="2" charset="2"/>
              </a:rPr>
              <a:t>. </a:t>
            </a:r>
            <a:r>
              <a:rPr lang="ko-KR" altLang="en-US" sz="1500" dirty="0">
                <a:latin typeface="+mn-ea"/>
                <a:ea typeface="+mn-ea"/>
                <a:sym typeface="Wingdings" panose="05000000000000000000" pitchFamily="2" charset="2"/>
              </a:rPr>
              <a:t>이는 실제 주행 시 오차가 거의 발생하지 않음을 의미한다</a:t>
            </a:r>
            <a:r>
              <a:rPr lang="en-US" altLang="ko-KR" sz="1500" dirty="0">
                <a:latin typeface="+mn-ea"/>
                <a:ea typeface="+mn-ea"/>
                <a:sym typeface="Wingdings" panose="05000000000000000000" pitchFamily="2" charset="2"/>
              </a:rPr>
              <a:t>.</a:t>
            </a:r>
            <a:endParaRPr lang="ko-KR" altLang="en-US" sz="1500" dirty="0">
              <a:latin typeface="+mn-ea"/>
              <a:ea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4D68CBF-D8AD-FAF5-A593-F1DAB63D8CB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669618" y="27121889"/>
            <a:ext cx="2124896" cy="160048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5892243-58BE-F5C9-287F-E75722402A8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67245" y="27121889"/>
            <a:ext cx="2127979" cy="1602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7E4380A-5E81-A49C-F1D8-E0A8D24DB95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67649" y="27130977"/>
            <a:ext cx="2211920" cy="16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79716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1954</TotalTime>
  <Words>406</Words>
  <Application>Microsoft Office PowerPoint</Application>
  <PresentationFormat>사용자 지정</PresentationFormat>
  <Paragraphs>65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HY헤드라인M</vt:lpstr>
      <vt:lpstr>굴림</vt:lpstr>
      <vt:lpstr>맑은 고딕</vt:lpstr>
      <vt:lpstr>Arial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/>
  <cp:lastModifiedBy/>
  <cp:revision>760</cp:revision>
  <dcterms:created xsi:type="dcterms:W3CDTF">2007-10-01T21:58:01Z</dcterms:created>
  <dcterms:modified xsi:type="dcterms:W3CDTF">2026-03-08T00:34:42Z</dcterms:modified>
</cp:coreProperties>
</file>